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2750" y="134937"/>
            <a:ext cx="8731250" cy="27463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9575" y="0"/>
            <a:ext cx="278130" cy="271780"/>
          </a:xfrm>
          <a:custGeom>
            <a:avLst/>
            <a:gdLst/>
            <a:ahLst/>
            <a:cxnLst/>
            <a:rect l="l" t="t" r="r" b="b"/>
            <a:pathLst>
              <a:path w="278130" h="271780">
                <a:moveTo>
                  <a:pt x="138112" y="134937"/>
                </a:moveTo>
                <a:lnTo>
                  <a:pt x="0" y="134937"/>
                </a:lnTo>
                <a:lnTo>
                  <a:pt x="0" y="271462"/>
                </a:lnTo>
                <a:lnTo>
                  <a:pt x="138112" y="271462"/>
                </a:lnTo>
                <a:lnTo>
                  <a:pt x="138112" y="134937"/>
                </a:lnTo>
                <a:close/>
              </a:path>
              <a:path w="278130" h="271780">
                <a:moveTo>
                  <a:pt x="277812" y="0"/>
                </a:moveTo>
                <a:lnTo>
                  <a:pt x="138112" y="0"/>
                </a:lnTo>
                <a:lnTo>
                  <a:pt x="138112" y="134937"/>
                </a:lnTo>
                <a:lnTo>
                  <a:pt x="277812" y="134937"/>
                </a:lnTo>
                <a:lnTo>
                  <a:pt x="277812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7687" y="134937"/>
            <a:ext cx="139700" cy="141605"/>
          </a:xfrm>
          <a:custGeom>
            <a:avLst/>
            <a:gdLst/>
            <a:ahLst/>
            <a:cxnLst/>
            <a:rect l="l" t="t" r="r" b="b"/>
            <a:pathLst>
              <a:path w="139700" h="141604">
                <a:moveTo>
                  <a:pt x="139700" y="0"/>
                </a:moveTo>
                <a:lnTo>
                  <a:pt x="0" y="0"/>
                </a:lnTo>
                <a:lnTo>
                  <a:pt x="0" y="141287"/>
                </a:lnTo>
                <a:lnTo>
                  <a:pt x="139700" y="141287"/>
                </a:lnTo>
                <a:lnTo>
                  <a:pt x="13970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4637" y="274637"/>
            <a:ext cx="136525" cy="135255"/>
          </a:xfrm>
          <a:custGeom>
            <a:avLst/>
            <a:gdLst/>
            <a:ahLst/>
            <a:cxnLst/>
            <a:rect l="l" t="t" r="r" b="b"/>
            <a:pathLst>
              <a:path w="136525" h="135254">
                <a:moveTo>
                  <a:pt x="0" y="134937"/>
                </a:moveTo>
                <a:lnTo>
                  <a:pt x="136525" y="134937"/>
                </a:lnTo>
                <a:lnTo>
                  <a:pt x="136525" y="0"/>
                </a:lnTo>
                <a:lnTo>
                  <a:pt x="0" y="0"/>
                </a:lnTo>
                <a:lnTo>
                  <a:pt x="0" y="13493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1762" y="136525"/>
            <a:ext cx="141605" cy="138430"/>
          </a:xfrm>
          <a:custGeom>
            <a:avLst/>
            <a:gdLst/>
            <a:ahLst/>
            <a:cxnLst/>
            <a:rect l="l" t="t" r="r" b="b"/>
            <a:pathLst>
              <a:path w="141604" h="138429">
                <a:moveTo>
                  <a:pt x="141287" y="0"/>
                </a:moveTo>
                <a:lnTo>
                  <a:pt x="0" y="0"/>
                </a:lnTo>
                <a:lnTo>
                  <a:pt x="0" y="138112"/>
                </a:lnTo>
                <a:lnTo>
                  <a:pt x="141287" y="138112"/>
                </a:lnTo>
                <a:lnTo>
                  <a:pt x="141287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74637" y="271462"/>
            <a:ext cx="273050" cy="274955"/>
          </a:xfrm>
          <a:custGeom>
            <a:avLst/>
            <a:gdLst/>
            <a:ahLst/>
            <a:cxnLst/>
            <a:rect l="l" t="t" r="r" b="b"/>
            <a:pathLst>
              <a:path w="273050" h="274955">
                <a:moveTo>
                  <a:pt x="273050" y="0"/>
                </a:moveTo>
                <a:lnTo>
                  <a:pt x="134937" y="0"/>
                </a:lnTo>
                <a:lnTo>
                  <a:pt x="134937" y="138112"/>
                </a:lnTo>
                <a:lnTo>
                  <a:pt x="0" y="138112"/>
                </a:lnTo>
                <a:lnTo>
                  <a:pt x="0" y="274637"/>
                </a:lnTo>
                <a:lnTo>
                  <a:pt x="136525" y="274637"/>
                </a:lnTo>
                <a:lnTo>
                  <a:pt x="136525" y="138112"/>
                </a:lnTo>
                <a:lnTo>
                  <a:pt x="273050" y="138112"/>
                </a:lnTo>
                <a:lnTo>
                  <a:pt x="27305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175" y="406241"/>
            <a:ext cx="8489061" cy="10402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69" y="1471676"/>
            <a:ext cx="8074660" cy="4634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5558" y="2715260"/>
            <a:ext cx="299148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99"/>
                </a:solidFill>
              </a:rPr>
              <a:t>Lecture</a:t>
            </a:r>
            <a:r>
              <a:rPr spc="-9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–</a:t>
            </a:r>
            <a:r>
              <a:rPr spc="5" dirty="0">
                <a:solidFill>
                  <a:srgbClr val="000099"/>
                </a:solidFill>
              </a:rPr>
              <a:t> </a:t>
            </a:r>
            <a:r>
              <a:rPr spc="-25" dirty="0" smtClean="0">
                <a:solidFill>
                  <a:srgbClr val="000099"/>
                </a:solidFill>
              </a:rPr>
              <a:t>2</a:t>
            </a:r>
            <a:r>
              <a:rPr lang="en-US" spc="-25" dirty="0" smtClean="0">
                <a:solidFill>
                  <a:srgbClr val="000099"/>
                </a:solidFill>
              </a:rPr>
              <a:t>1</a:t>
            </a:r>
            <a:endParaRPr spc="-25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053" rIns="0" bIns="0" rtlCol="0">
            <a:spAutoFit/>
          </a:bodyPr>
          <a:lstStyle/>
          <a:p>
            <a:pPr marL="1191895">
              <a:lnSpc>
                <a:spcPct val="100000"/>
              </a:lnSpc>
              <a:spcBef>
                <a:spcPts val="105"/>
              </a:spcBef>
            </a:pPr>
            <a:r>
              <a:rPr dirty="0"/>
              <a:t>Communication</a:t>
            </a:r>
            <a:r>
              <a:rPr spc="-15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05076"/>
            <a:ext cx="7925434" cy="3917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Intrasystem</a:t>
            </a:r>
            <a:r>
              <a:rPr sz="2400" b="1" spc="-1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Communication:</a:t>
            </a:r>
            <a:endParaRPr sz="240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Occurs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computer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755650" algn="l"/>
              </a:tabLst>
            </a:pPr>
            <a:r>
              <a:rPr sz="2400" spc="-10" dirty="0">
                <a:latin typeface="Arial MT"/>
                <a:cs typeface="Arial MT"/>
              </a:rPr>
              <a:t>Implemented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20" dirty="0">
                <a:latin typeface="Arial"/>
                <a:cs typeface="Arial"/>
              </a:rPr>
              <a:t>bus</a:t>
            </a:r>
            <a:r>
              <a:rPr sz="2400" spc="-2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755650" algn="l"/>
              </a:tabLst>
            </a:pPr>
            <a:r>
              <a:rPr sz="2400" spc="-10" dirty="0">
                <a:latin typeface="Arial MT"/>
                <a:cs typeface="Arial MT"/>
              </a:rPr>
              <a:t>Transmission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parallel.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Intersystem</a:t>
            </a:r>
            <a:r>
              <a:rPr sz="2400" b="1" spc="-1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Communication:</a:t>
            </a:r>
            <a:endParaRPr sz="240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Involves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communication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longer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distances.</a:t>
            </a:r>
            <a:endParaRPr sz="24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Realized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variety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physical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media.</a:t>
            </a:r>
            <a:endParaRPr sz="24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755650" algn="l"/>
              </a:tabLst>
            </a:pPr>
            <a:r>
              <a:rPr sz="2400" spc="-10" dirty="0">
                <a:latin typeface="Arial MT"/>
                <a:cs typeface="Arial MT"/>
              </a:rPr>
              <a:t>Transmission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serial.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0246" rIns="0" bIns="0" rtlCol="0">
            <a:spAutoFit/>
          </a:bodyPr>
          <a:lstStyle/>
          <a:p>
            <a:pPr marL="350202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Buses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822513"/>
            <a:ext cx="3187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Reading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Assignment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953" rIns="0" bIns="0" rtlCol="0">
            <a:spAutoFit/>
          </a:bodyPr>
          <a:lstStyle/>
          <a:p>
            <a:pPr marL="2338070">
              <a:lnSpc>
                <a:spcPct val="100000"/>
              </a:lnSpc>
              <a:spcBef>
                <a:spcPts val="105"/>
              </a:spcBef>
            </a:pPr>
            <a:r>
              <a:rPr dirty="0"/>
              <a:t>Bus</a:t>
            </a:r>
            <a:r>
              <a:rPr spc="-50" dirty="0"/>
              <a:t> </a:t>
            </a:r>
            <a:r>
              <a:rPr spc="-10" dirty="0"/>
              <a:t>Arbitration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7500"/>
            <a:ext cx="7924165" cy="41224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65100" marR="5080" indent="-18415" algn="just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Arial MT"/>
                <a:cs typeface="Arial MT"/>
              </a:rPr>
              <a:t>Several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master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slave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connected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shared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bus </a:t>
            </a:r>
            <a:r>
              <a:rPr sz="2400" dirty="0">
                <a:latin typeface="Arial MT"/>
                <a:cs typeface="Arial MT"/>
              </a:rPr>
              <a:t>may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request</a:t>
            </a:r>
            <a:r>
              <a:rPr sz="2400" spc="-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access  to  the  bus</a:t>
            </a:r>
            <a:r>
              <a:rPr sz="2400" spc="-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at  the  same  time. 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selection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mechanism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b="1" i="1" dirty="0">
                <a:solidFill>
                  <a:srgbClr val="006600"/>
                </a:solidFill>
                <a:latin typeface="Arial"/>
                <a:cs typeface="Arial"/>
              </a:rPr>
              <a:t>bus</a:t>
            </a:r>
            <a:r>
              <a:rPr sz="2400" b="1" i="1" spc="17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006600"/>
                </a:solidFill>
                <a:latin typeface="Arial"/>
                <a:cs typeface="Arial"/>
              </a:rPr>
              <a:t>arbitration</a:t>
            </a:r>
            <a:r>
              <a:rPr sz="2400" b="1" i="1" spc="1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16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required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enable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current</a:t>
            </a:r>
            <a:r>
              <a:rPr sz="2400" spc="5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master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b="1" i="1" dirty="0">
                <a:solidFill>
                  <a:srgbClr val="006600"/>
                </a:solidFill>
                <a:latin typeface="Arial"/>
                <a:cs typeface="Arial"/>
              </a:rPr>
              <a:t>bus</a:t>
            </a:r>
            <a:r>
              <a:rPr sz="2400" b="1" i="1" spc="53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006600"/>
                </a:solidFill>
                <a:latin typeface="Arial"/>
                <a:cs typeface="Arial"/>
              </a:rPr>
              <a:t>controller</a:t>
            </a:r>
            <a:r>
              <a:rPr sz="2400" b="1" i="1" spc="5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decide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competing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requests.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400">
              <a:latin typeface="Arial MT"/>
              <a:cs typeface="Arial MT"/>
            </a:endParaRPr>
          </a:p>
          <a:p>
            <a:pPr marL="165100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arbitration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scheme: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 MT"/>
              <a:cs typeface="Arial MT"/>
            </a:endParaRPr>
          </a:p>
          <a:p>
            <a:pPr marL="545465" indent="-532765">
              <a:lnSpc>
                <a:spcPct val="100000"/>
              </a:lnSpc>
              <a:buClr>
                <a:srgbClr val="000099"/>
              </a:buClr>
              <a:buSzPct val="79166"/>
              <a:buAutoNum type="arabicPeriod"/>
              <a:tabLst>
                <a:tab pos="545465" algn="l"/>
              </a:tabLst>
            </a:pPr>
            <a:r>
              <a:rPr sz="2400" dirty="0">
                <a:latin typeface="Arial MT"/>
                <a:cs typeface="Arial MT"/>
              </a:rPr>
              <a:t>Daisy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Chaining</a:t>
            </a:r>
            <a:endParaRPr sz="2400">
              <a:latin typeface="Arial MT"/>
              <a:cs typeface="Arial MT"/>
            </a:endParaRPr>
          </a:p>
          <a:p>
            <a:pPr marL="545465" indent="-532765">
              <a:lnSpc>
                <a:spcPct val="100000"/>
              </a:lnSpc>
              <a:spcBef>
                <a:spcPts val="285"/>
              </a:spcBef>
              <a:buClr>
                <a:srgbClr val="000099"/>
              </a:buClr>
              <a:buSzPct val="79166"/>
              <a:buAutoNum type="arabicPeriod"/>
              <a:tabLst>
                <a:tab pos="545465" algn="l"/>
              </a:tabLst>
            </a:pPr>
            <a:r>
              <a:rPr sz="2400" spc="-10" dirty="0">
                <a:latin typeface="Arial MT"/>
                <a:cs typeface="Arial MT"/>
              </a:rPr>
              <a:t>Polling</a:t>
            </a:r>
            <a:endParaRPr sz="2400">
              <a:latin typeface="Arial MT"/>
              <a:cs typeface="Arial MT"/>
            </a:endParaRPr>
          </a:p>
          <a:p>
            <a:pPr marL="545465" indent="-532765">
              <a:lnSpc>
                <a:spcPct val="100000"/>
              </a:lnSpc>
              <a:spcBef>
                <a:spcPts val="290"/>
              </a:spcBef>
              <a:buClr>
                <a:srgbClr val="000099"/>
              </a:buClr>
              <a:buSzPct val="79166"/>
              <a:buAutoNum type="arabicPeriod"/>
              <a:tabLst>
                <a:tab pos="545465" algn="l"/>
              </a:tabLst>
            </a:pPr>
            <a:r>
              <a:rPr sz="2400" dirty="0">
                <a:latin typeface="Arial MT"/>
                <a:cs typeface="Arial MT"/>
              </a:rPr>
              <a:t>Independent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Requesting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7353" rIns="0" bIns="0" rtlCol="0">
            <a:spAutoFit/>
          </a:bodyPr>
          <a:lstStyle/>
          <a:p>
            <a:pPr marL="2353310">
              <a:lnSpc>
                <a:spcPct val="100000"/>
              </a:lnSpc>
              <a:spcBef>
                <a:spcPts val="105"/>
              </a:spcBef>
            </a:pPr>
            <a:r>
              <a:rPr dirty="0"/>
              <a:t>Daisy</a:t>
            </a:r>
            <a:r>
              <a:rPr spc="-60" dirty="0"/>
              <a:t> </a:t>
            </a:r>
            <a:r>
              <a:rPr spc="-10" dirty="0"/>
              <a:t>Chaining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2505075"/>
            <a:ext cx="7619987" cy="2203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5039" y="520541"/>
            <a:ext cx="36957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Daisy</a:t>
            </a:r>
            <a:r>
              <a:rPr spc="-60" dirty="0"/>
              <a:t> </a:t>
            </a:r>
            <a:r>
              <a:rPr spc="-10" dirty="0"/>
              <a:t>Chaining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440" y="1193088"/>
            <a:ext cx="8186420" cy="5165725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689"/>
              </a:spcBef>
            </a:pP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Advantages:</a:t>
            </a:r>
            <a:endParaRPr sz="2400">
              <a:latin typeface="Arial"/>
              <a:cs typeface="Arial"/>
            </a:endParaRPr>
          </a:p>
          <a:p>
            <a:pPr marL="420370" indent="-344170">
              <a:lnSpc>
                <a:spcPct val="100000"/>
              </a:lnSpc>
              <a:spcBef>
                <a:spcPts val="259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42037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few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lines.</a:t>
            </a:r>
            <a:endParaRPr sz="2400">
              <a:latin typeface="Arial MT"/>
              <a:cs typeface="Arial MT"/>
            </a:endParaRPr>
          </a:p>
          <a:p>
            <a:pPr marL="4203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420370" algn="l"/>
              </a:tabLst>
            </a:pP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arbitration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scheme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simple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fixed.</a:t>
            </a:r>
            <a:endParaRPr sz="2400">
              <a:latin typeface="Arial MT"/>
              <a:cs typeface="Arial MT"/>
            </a:endParaRPr>
          </a:p>
          <a:p>
            <a:pPr marL="4203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42037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unlimited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units.</a:t>
            </a:r>
            <a:endParaRPr sz="24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spcBef>
                <a:spcPts val="2595"/>
              </a:spcBef>
            </a:pP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Disadvantages:</a:t>
            </a:r>
            <a:endParaRPr sz="2400">
              <a:latin typeface="Arial"/>
              <a:cs typeface="Arial"/>
            </a:endParaRPr>
          </a:p>
          <a:p>
            <a:pPr marL="420370" marR="53340" indent="-344805">
              <a:lnSpc>
                <a:spcPct val="100000"/>
              </a:lnSpc>
              <a:spcBef>
                <a:spcPts val="259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420370" algn="l"/>
                <a:tab pos="843915" algn="l"/>
                <a:tab pos="1773555" algn="l"/>
                <a:tab pos="2904490" algn="l"/>
                <a:tab pos="4041140" algn="l"/>
                <a:tab pos="4601845" algn="l"/>
                <a:tab pos="5988685" algn="l"/>
                <a:tab pos="6988809" algn="l"/>
              </a:tabLst>
            </a:pP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unit’s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priority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cannot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changed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under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program control.</a:t>
            </a:r>
            <a:endParaRPr sz="2400">
              <a:latin typeface="Arial MT"/>
              <a:cs typeface="Arial MT"/>
            </a:endParaRPr>
          </a:p>
          <a:p>
            <a:pPr marL="4203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4203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high-</a:t>
            </a:r>
            <a:r>
              <a:rPr sz="2400" dirty="0">
                <a:latin typeface="Arial MT"/>
                <a:cs typeface="Arial MT"/>
              </a:rPr>
              <a:t>priority unit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lock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low-</a:t>
            </a:r>
            <a:r>
              <a:rPr sz="2400" dirty="0">
                <a:latin typeface="Arial MT"/>
                <a:cs typeface="Arial MT"/>
              </a:rPr>
              <a:t>priority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device.</a:t>
            </a:r>
            <a:endParaRPr sz="2400">
              <a:latin typeface="Arial MT"/>
              <a:cs typeface="Arial MT"/>
            </a:endParaRPr>
          </a:p>
          <a:p>
            <a:pPr marL="4203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420370" algn="l"/>
                <a:tab pos="761365" algn="l"/>
                <a:tab pos="1106170" algn="l"/>
                <a:tab pos="1770380" algn="l"/>
                <a:tab pos="2206625" algn="l"/>
                <a:tab pos="2599690" algn="l"/>
                <a:tab pos="3687445" algn="l"/>
                <a:tab pos="4114165" algn="l"/>
                <a:tab pos="5659755" algn="l"/>
                <a:tab pos="6257290" algn="l"/>
                <a:tab pos="7055484" algn="l"/>
              </a:tabLst>
            </a:pPr>
            <a:r>
              <a:rPr sz="2400" spc="-25" dirty="0">
                <a:latin typeface="Arial MT"/>
                <a:cs typeface="Arial MT"/>
              </a:rPr>
              <a:t>If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unit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i="1" spc="-25" dirty="0">
                <a:latin typeface="Arial"/>
                <a:cs typeface="Arial"/>
              </a:rPr>
              <a:t>U</a:t>
            </a:r>
            <a:r>
              <a:rPr sz="2400" i="1" spc="-37" baseline="-20833" dirty="0">
                <a:latin typeface="Arial"/>
                <a:cs typeface="Arial"/>
              </a:rPr>
              <a:t>i</a:t>
            </a:r>
            <a:r>
              <a:rPr sz="2400" i="1" baseline="-20833" dirty="0">
                <a:latin typeface="Arial"/>
                <a:cs typeface="Arial"/>
              </a:rPr>
              <a:t>	</a:t>
            </a:r>
            <a:r>
              <a:rPr sz="2400" spc="-2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unable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propagate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i="1" spc="-25" dirty="0">
                <a:latin typeface="Arial"/>
                <a:cs typeface="Arial"/>
              </a:rPr>
              <a:t>BUS</a:t>
            </a:r>
            <a:r>
              <a:rPr sz="2400" i="1" dirty="0">
                <a:latin typeface="Arial"/>
                <a:cs typeface="Arial"/>
              </a:rPr>
              <a:t>	</a:t>
            </a:r>
            <a:r>
              <a:rPr sz="2400" i="1" spc="-10" dirty="0">
                <a:latin typeface="Arial"/>
                <a:cs typeface="Arial"/>
              </a:rPr>
              <a:t>GRANT</a:t>
            </a:r>
            <a:endParaRPr sz="2400">
              <a:latin typeface="Arial"/>
              <a:cs typeface="Arial"/>
            </a:endParaRPr>
          </a:p>
          <a:p>
            <a:pPr marL="42037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signal,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U</a:t>
            </a:r>
            <a:r>
              <a:rPr sz="2400" i="1" baseline="-20833" dirty="0">
                <a:latin typeface="Arial"/>
                <a:cs typeface="Arial"/>
              </a:rPr>
              <a:t>j</a:t>
            </a:r>
            <a:r>
              <a:rPr sz="2400" i="1" spc="247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j&gt;i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gain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bus.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053" rIns="0" bIns="0" rtlCol="0">
            <a:spAutoFit/>
          </a:bodyPr>
          <a:lstStyle/>
          <a:p>
            <a:pPr marL="33407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Polling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408" y="2111400"/>
            <a:ext cx="6616192" cy="30130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634" rIns="0" bIns="0" rtlCol="0">
            <a:spAutoFit/>
          </a:bodyPr>
          <a:lstStyle/>
          <a:p>
            <a:pPr marL="33407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Polling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Advantages:</a:t>
            </a:r>
          </a:p>
          <a:p>
            <a:pPr marL="1270">
              <a:lnSpc>
                <a:spcPct val="100000"/>
              </a:lnSpc>
              <a:spcBef>
                <a:spcPts val="1270"/>
              </a:spcBef>
            </a:pPr>
            <a:endParaRPr spc="-10" dirty="0"/>
          </a:p>
          <a:p>
            <a:pPr marL="358140" marR="6985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8140" algn="l"/>
                <a:tab pos="1080135" algn="l"/>
                <a:tab pos="2479675" algn="l"/>
                <a:tab pos="3585845" algn="l"/>
                <a:tab pos="4271645" algn="l"/>
                <a:tab pos="4808220" algn="l"/>
                <a:tab pos="5932805" algn="l"/>
                <a:tab pos="6908165" algn="l"/>
              </a:tabLst>
            </a:pPr>
            <a:r>
              <a:rPr b="0" spc="-25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selection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priority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b="0" spc="-25" dirty="0">
                <a:solidFill>
                  <a:srgbClr val="000000"/>
                </a:solidFill>
                <a:latin typeface="Arial MT"/>
                <a:cs typeface="Arial MT"/>
              </a:rPr>
              <a:t>can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b="0" spc="-25" dirty="0">
                <a:solidFill>
                  <a:srgbClr val="000000"/>
                </a:solidFill>
                <a:latin typeface="Arial MT"/>
                <a:cs typeface="Arial MT"/>
              </a:rPr>
              <a:t>be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altered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under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software control.</a:t>
            </a:r>
          </a:p>
          <a:p>
            <a:pPr marL="35814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8140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failure</a:t>
            </a:r>
            <a:r>
              <a:rPr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one</a:t>
            </a:r>
            <a:r>
              <a:rPr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unit</a:t>
            </a:r>
            <a:r>
              <a:rPr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does</a:t>
            </a:r>
            <a:r>
              <a:rPr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not</a:t>
            </a:r>
            <a:r>
              <a:rPr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affect</a:t>
            </a:r>
            <a:r>
              <a:rPr b="0" spc="-1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other</a:t>
            </a:r>
            <a:r>
              <a:rPr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units.</a:t>
            </a:r>
          </a:p>
          <a:p>
            <a:pPr marL="1270">
              <a:lnSpc>
                <a:spcPct val="100000"/>
              </a:lnSpc>
              <a:spcBef>
                <a:spcPts val="1275"/>
              </a:spcBef>
              <a:buClr>
                <a:srgbClr val="000099"/>
              </a:buClr>
              <a:buFont typeface="Wingdings"/>
              <a:buChar char=""/>
            </a:pPr>
            <a:endParaRPr b="0" spc="-10" dirty="0">
              <a:solidFill>
                <a:srgbClr val="000000"/>
              </a:solidFill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pc="-10" dirty="0"/>
              <a:t>Disadvantages:</a:t>
            </a:r>
          </a:p>
          <a:p>
            <a:pPr marL="1270">
              <a:lnSpc>
                <a:spcPct val="100000"/>
              </a:lnSpc>
              <a:spcBef>
                <a:spcPts val="1270"/>
              </a:spcBef>
            </a:pPr>
            <a:endParaRPr spc="-10" dirty="0"/>
          </a:p>
          <a:p>
            <a:pPr marL="35814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8140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It</a:t>
            </a:r>
            <a:r>
              <a:rPr b="0" spc="-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requires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more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control</a:t>
            </a:r>
            <a:r>
              <a:rPr b="0" spc="-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line.</a:t>
            </a:r>
          </a:p>
          <a:p>
            <a:pPr marL="358140" marR="5080" indent="-34480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8140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11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number</a:t>
            </a:r>
            <a:r>
              <a:rPr b="0" spc="1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b="0" spc="1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units</a:t>
            </a:r>
            <a:r>
              <a:rPr b="0" spc="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that</a:t>
            </a:r>
            <a:r>
              <a:rPr b="0" spc="1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can</a:t>
            </a:r>
            <a:r>
              <a:rPr b="0" spc="11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share</a:t>
            </a:r>
            <a:r>
              <a:rPr b="0" spc="1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11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bus</a:t>
            </a:r>
            <a:r>
              <a:rPr b="0" spc="8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b="0" spc="1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limited</a:t>
            </a:r>
            <a:r>
              <a:rPr b="0" spc="11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 MT"/>
                <a:cs typeface="Arial MT"/>
              </a:rPr>
              <a:t>by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-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addressing</a:t>
            </a:r>
            <a:r>
              <a:rPr b="0" spc="-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capability</a:t>
            </a:r>
            <a:r>
              <a:rPr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-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 MT"/>
                <a:cs typeface="Arial MT"/>
              </a:rPr>
              <a:t>poll-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count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0246" rIns="0" bIns="0" rtlCol="0">
            <a:spAutoFit/>
          </a:bodyPr>
          <a:lstStyle/>
          <a:p>
            <a:pPr marL="152146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Independent</a:t>
            </a:r>
            <a:r>
              <a:rPr sz="3600" spc="-220" dirty="0"/>
              <a:t> </a:t>
            </a:r>
            <a:r>
              <a:rPr sz="3600" spc="-10" dirty="0"/>
              <a:t>Requesting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992" y="2111374"/>
            <a:ext cx="6998144" cy="313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634" rIns="0" bIns="0" rtlCol="0">
            <a:spAutoFit/>
          </a:bodyPr>
          <a:lstStyle/>
          <a:p>
            <a:pPr marL="1222375">
              <a:lnSpc>
                <a:spcPct val="100000"/>
              </a:lnSpc>
              <a:spcBef>
                <a:spcPts val="105"/>
              </a:spcBef>
            </a:pPr>
            <a:r>
              <a:rPr dirty="0"/>
              <a:t>Independent</a:t>
            </a:r>
            <a:r>
              <a:rPr spc="-150" dirty="0"/>
              <a:t> </a:t>
            </a:r>
            <a:r>
              <a:rPr spc="-10" dirty="0"/>
              <a:t>Requesting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547876"/>
            <a:ext cx="7920355" cy="507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Advantages: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400">
              <a:latin typeface="Arial"/>
              <a:cs typeface="Arial"/>
            </a:endParaRPr>
          </a:p>
          <a:p>
            <a:pPr marL="393700" marR="37465" indent="-343535" algn="just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949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</a:t>
            </a:r>
            <a:r>
              <a:rPr sz="2400" spc="1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controller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respond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rapidly</a:t>
            </a:r>
            <a:r>
              <a:rPr sz="2400" spc="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requests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	</a:t>
            </a:r>
            <a:r>
              <a:rPr sz="2400" dirty="0">
                <a:latin typeface="Arial MT"/>
                <a:cs typeface="Arial MT"/>
              </a:rPr>
              <a:t>bus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access.</a:t>
            </a:r>
            <a:endParaRPr sz="2400">
              <a:latin typeface="Arial MT"/>
              <a:cs typeface="Arial MT"/>
            </a:endParaRPr>
          </a:p>
          <a:p>
            <a:pPr marL="393700" marR="43180" indent="-343535" algn="just">
              <a:lnSpc>
                <a:spcPct val="100000"/>
              </a:lnSpc>
              <a:spcBef>
                <a:spcPts val="58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949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</a:t>
            </a:r>
            <a:r>
              <a:rPr sz="2400" spc="5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controller</a:t>
            </a:r>
            <a:r>
              <a:rPr sz="2400" spc="-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determines</a:t>
            </a:r>
            <a:r>
              <a:rPr sz="2400" spc="5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priority,</a:t>
            </a:r>
            <a:r>
              <a:rPr sz="2400" spc="-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20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is 	</a:t>
            </a:r>
            <a:r>
              <a:rPr sz="2400" spc="-10" dirty="0">
                <a:latin typeface="Arial MT"/>
                <a:cs typeface="Arial MT"/>
              </a:rPr>
              <a:t>programmable.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Disadvantages: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400">
              <a:latin typeface="Arial"/>
              <a:cs typeface="Arial"/>
            </a:endParaRPr>
          </a:p>
          <a:p>
            <a:pPr marL="393700" marR="43180" indent="-343535" algn="just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9497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1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BUS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REQUEST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1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BUS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GRANT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lines 	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25" dirty="0">
                <a:latin typeface="Arial"/>
                <a:cs typeface="Arial"/>
              </a:rPr>
              <a:t>  </a:t>
            </a:r>
            <a:r>
              <a:rPr sz="2400" dirty="0">
                <a:latin typeface="Arial MT"/>
                <a:cs typeface="Arial MT"/>
              </a:rPr>
              <a:t>units.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contrast,</a:t>
            </a:r>
            <a:r>
              <a:rPr sz="2400" spc="-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daisy</a:t>
            </a:r>
            <a:r>
              <a:rPr sz="2400" spc="-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chaining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-10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two 	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lines,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while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polling</a:t>
            </a:r>
            <a:r>
              <a:rPr sz="2400" spc="3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3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approximately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log</a:t>
            </a:r>
            <a:r>
              <a:rPr sz="2400" i="1" spc="-15" baseline="-20833" dirty="0">
                <a:latin typeface="Arial"/>
                <a:cs typeface="Arial"/>
              </a:rPr>
              <a:t>2</a:t>
            </a:r>
            <a:r>
              <a:rPr sz="2400" i="1" spc="-10" dirty="0">
                <a:latin typeface="Arial"/>
                <a:cs typeface="Arial"/>
              </a:rPr>
              <a:t>n 	</a:t>
            </a:r>
            <a:r>
              <a:rPr sz="2400" spc="-10" dirty="0">
                <a:latin typeface="Arial MT"/>
                <a:cs typeface="Arial MT"/>
              </a:rPr>
              <a:t>lines.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6853" rIns="0" bIns="0" rtlCol="0">
            <a:spAutoFit/>
          </a:bodyPr>
          <a:lstStyle/>
          <a:p>
            <a:pPr marL="1828800">
              <a:lnSpc>
                <a:spcPct val="100000"/>
              </a:lnSpc>
              <a:spcBef>
                <a:spcPts val="105"/>
              </a:spcBef>
            </a:pPr>
            <a:r>
              <a:rPr dirty="0"/>
              <a:t>IO</a:t>
            </a:r>
            <a:r>
              <a:rPr spc="-35" dirty="0"/>
              <a:t> </a:t>
            </a:r>
            <a:r>
              <a:rPr dirty="0"/>
              <a:t>Control</a:t>
            </a:r>
            <a:r>
              <a:rPr spc="-4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746313"/>
            <a:ext cx="4644390" cy="2162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methods: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621665" indent="-60896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621665" algn="l"/>
              </a:tabLst>
            </a:pPr>
            <a:r>
              <a:rPr sz="2400" spc="-10" dirty="0">
                <a:latin typeface="Arial MT"/>
                <a:cs typeface="Arial MT"/>
              </a:rPr>
              <a:t>Programmed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IO</a:t>
            </a:r>
            <a:endParaRPr sz="2400">
              <a:latin typeface="Arial MT"/>
              <a:cs typeface="Arial MT"/>
            </a:endParaRPr>
          </a:p>
          <a:p>
            <a:pPr marL="621665" indent="-60896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621665" algn="l"/>
              </a:tabLst>
            </a:pP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(DMA)</a:t>
            </a:r>
            <a:endParaRPr sz="2400">
              <a:latin typeface="Arial MT"/>
              <a:cs typeface="Arial MT"/>
            </a:endParaRPr>
          </a:p>
          <a:p>
            <a:pPr marL="621665" indent="-608965">
              <a:lnSpc>
                <a:spcPct val="100000"/>
              </a:lnSpc>
              <a:spcBef>
                <a:spcPts val="58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621665" algn="l"/>
              </a:tabLst>
            </a:pPr>
            <a:r>
              <a:rPr sz="2400" spc="-10" dirty="0">
                <a:latin typeface="Arial MT"/>
                <a:cs typeface="Arial MT"/>
              </a:rPr>
              <a:t>Interrupt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846" rIns="0" bIns="0" rtlCol="0">
            <a:spAutoFit/>
          </a:bodyPr>
          <a:lstStyle/>
          <a:p>
            <a:pPr marL="24720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Programmed</a:t>
            </a:r>
            <a:r>
              <a:rPr sz="3600" spc="-90" dirty="0"/>
              <a:t> </a:t>
            </a:r>
            <a:r>
              <a:rPr sz="3600" spc="-25" dirty="0"/>
              <a:t>IO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4987" y="1505330"/>
            <a:ext cx="8075295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indent="25844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271145" algn="l"/>
                <a:tab pos="1417320" algn="l"/>
                <a:tab pos="2280285" algn="l"/>
                <a:tab pos="2844165" algn="l"/>
                <a:tab pos="4187825" algn="l"/>
                <a:tab pos="4940935" algn="l"/>
                <a:tab pos="5489575" algn="l"/>
                <a:tab pos="6053455" algn="l"/>
                <a:tab pos="7723505" algn="l"/>
              </a:tabLst>
            </a:pPr>
            <a:r>
              <a:rPr sz="2400" spc="-10" dirty="0">
                <a:latin typeface="Arial MT"/>
                <a:cs typeface="Arial MT"/>
              </a:rPr>
              <a:t>Programmed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requires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that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all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operations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40" dirty="0">
                <a:latin typeface="Arial MT"/>
                <a:cs typeface="Arial MT"/>
              </a:rPr>
              <a:t>be </a:t>
            </a:r>
            <a:r>
              <a:rPr sz="2400" spc="-10" dirty="0">
                <a:latin typeface="Arial MT"/>
                <a:cs typeface="Arial MT"/>
              </a:rPr>
              <a:t>executed</a:t>
            </a:r>
            <a:r>
              <a:rPr sz="2400" dirty="0">
                <a:latin typeface="Arial MT"/>
                <a:cs typeface="Arial MT"/>
              </a:rPr>
              <a:t>	under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CPU.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12700" marR="6350" indent="25844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271145" algn="l"/>
                <a:tab pos="1259205" algn="l"/>
                <a:tab pos="3203575" algn="l"/>
                <a:tab pos="4690745" algn="l"/>
                <a:tab pos="6090285" algn="l"/>
                <a:tab pos="6644640" algn="l"/>
                <a:tab pos="7178040" algn="l"/>
              </a:tabLst>
            </a:pPr>
            <a:r>
              <a:rPr sz="2400" spc="-20" dirty="0">
                <a:latin typeface="Arial MT"/>
                <a:cs typeface="Arial MT"/>
              </a:rPr>
              <a:t>Every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data-transfer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operation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involving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device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CPU.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12700" marR="5080" indent="25209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26479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transfer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programmable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registers: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one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CPU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register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attached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device.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12700" marR="5715" indent="25209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264795" algn="l"/>
                <a:tab pos="1017905" algn="l"/>
                <a:tab pos="1564005" algn="l"/>
                <a:tab pos="2673350" algn="l"/>
                <a:tab pos="3886200" algn="l"/>
                <a:tab pos="4773295" algn="l"/>
                <a:tab pos="5745480" algn="l"/>
                <a:tab pos="6918959" algn="l"/>
                <a:tab pos="7400925" algn="l"/>
              </a:tabLst>
            </a:pP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device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doesn’t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have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direct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access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main </a:t>
            </a:r>
            <a:r>
              <a:rPr sz="2400" spc="-10" dirty="0">
                <a:latin typeface="Arial MT"/>
                <a:cs typeface="Arial MT"/>
              </a:rPr>
              <a:t>memory.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12700" marR="6985" indent="240029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252729" algn="l"/>
              </a:tabLst>
            </a:pPr>
            <a:r>
              <a:rPr sz="2400" dirty="0">
                <a:latin typeface="Arial MT"/>
                <a:cs typeface="Arial MT"/>
              </a:rPr>
              <a:t>A data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transfer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IO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device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CPU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several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7353" rIns="0" bIns="0" rtlCol="0">
            <a:spAutoFit/>
          </a:bodyPr>
          <a:lstStyle/>
          <a:p>
            <a:pPr marL="181673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Memory-</a:t>
            </a:r>
            <a:r>
              <a:rPr dirty="0"/>
              <a:t>mapped</a:t>
            </a:r>
            <a:r>
              <a:rPr spc="30" dirty="0"/>
              <a:t> </a:t>
            </a:r>
            <a:r>
              <a:rPr spc="-25" dirty="0"/>
              <a:t>IO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639" y="2178062"/>
            <a:ext cx="6766509" cy="29844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7353" rIns="0" bIns="0" rtlCol="0">
            <a:spAutoFit/>
          </a:bodyPr>
          <a:lstStyle/>
          <a:p>
            <a:pPr marL="25241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IO-</a:t>
            </a:r>
            <a:r>
              <a:rPr dirty="0"/>
              <a:t>mapped</a:t>
            </a:r>
            <a:r>
              <a:rPr spc="-80" dirty="0"/>
              <a:t> </a:t>
            </a:r>
            <a:r>
              <a:rPr spc="-35" dirty="0"/>
              <a:t>IO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243137"/>
            <a:ext cx="6934200" cy="29273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634" rIns="0" bIns="0" rtlCol="0">
            <a:spAutoFit/>
          </a:bodyPr>
          <a:lstStyle/>
          <a:p>
            <a:pPr marL="2283460">
              <a:lnSpc>
                <a:spcPct val="100000"/>
              </a:lnSpc>
              <a:spcBef>
                <a:spcPts val="105"/>
              </a:spcBef>
            </a:pPr>
            <a:r>
              <a:rPr dirty="0"/>
              <a:t>Programmed</a:t>
            </a:r>
            <a:r>
              <a:rPr spc="-130" dirty="0"/>
              <a:t> </a:t>
            </a:r>
            <a:r>
              <a:rPr spc="-25" dirty="0"/>
              <a:t>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7876"/>
            <a:ext cx="8077834" cy="470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Advantages: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No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special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hardware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needed.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scheme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simple.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Disadvantages: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355600" marR="6985" indent="-343535" algn="just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CPU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test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service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IO 	</a:t>
            </a:r>
            <a:r>
              <a:rPr sz="2400" dirty="0">
                <a:latin typeface="Arial MT"/>
                <a:cs typeface="Arial MT"/>
              </a:rPr>
              <a:t>devices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limits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transfer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rates.</a:t>
            </a:r>
            <a:endParaRPr sz="2400">
              <a:latin typeface="Arial MT"/>
              <a:cs typeface="Arial MT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8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CPU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spends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testing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IO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device</a:t>
            </a:r>
            <a:r>
              <a:rPr sz="2400" spc="2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status 	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executing</a:t>
            </a:r>
            <a:r>
              <a:rPr sz="2400" spc="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IO</a:t>
            </a:r>
            <a:r>
              <a:rPr sz="2400" spc="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transfers</a:t>
            </a:r>
            <a:r>
              <a:rPr sz="2400" spc="5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5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4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better 	</a:t>
            </a:r>
            <a:r>
              <a:rPr sz="2400" dirty="0">
                <a:latin typeface="Arial MT"/>
                <a:cs typeface="Arial MT"/>
              </a:rPr>
              <a:t>spent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tasks.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7353" rIns="0" bIns="0" rtlCol="0">
            <a:spAutoFit/>
          </a:bodyPr>
          <a:lstStyle/>
          <a:p>
            <a:pPr marL="429895">
              <a:lnSpc>
                <a:spcPct val="100000"/>
              </a:lnSpc>
              <a:spcBef>
                <a:spcPts val="105"/>
              </a:spcBef>
            </a:pPr>
            <a:r>
              <a:rPr dirty="0"/>
              <a:t>DMA</a:t>
            </a:r>
            <a:r>
              <a:rPr spc="-6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Interrupt</a:t>
            </a:r>
            <a:r>
              <a:rPr spc="-30" dirty="0"/>
              <a:t> </a:t>
            </a:r>
            <a:r>
              <a:rPr spc="-10" dirty="0"/>
              <a:t>Breakpoints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675" y="2359510"/>
            <a:ext cx="7292847" cy="26977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6853" rIns="0" bIns="0" rtlCol="0">
            <a:spAutoFit/>
          </a:bodyPr>
          <a:lstStyle/>
          <a:p>
            <a:pPr marL="640080">
              <a:lnSpc>
                <a:spcPct val="100000"/>
              </a:lnSpc>
              <a:spcBef>
                <a:spcPts val="105"/>
              </a:spcBef>
            </a:pPr>
            <a:r>
              <a:rPr dirty="0"/>
              <a:t>Direct</a:t>
            </a:r>
            <a:r>
              <a:rPr spc="-75" dirty="0"/>
              <a:t> </a:t>
            </a:r>
            <a:r>
              <a:rPr dirty="0"/>
              <a:t>Memory</a:t>
            </a:r>
            <a:r>
              <a:rPr spc="-30" dirty="0"/>
              <a:t> </a:t>
            </a:r>
            <a:r>
              <a:rPr dirty="0"/>
              <a:t>Access</a:t>
            </a:r>
            <a:r>
              <a:rPr spc="-80" dirty="0"/>
              <a:t> </a:t>
            </a:r>
            <a:r>
              <a:rPr spc="-10" dirty="0"/>
              <a:t>(DMA)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28876"/>
            <a:ext cx="7771765" cy="2732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665" marR="6985" indent="-609600" algn="just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62166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DMA</a:t>
            </a:r>
            <a:r>
              <a:rPr sz="2400" spc="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request</a:t>
            </a:r>
            <a:r>
              <a:rPr sz="2400" spc="4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40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4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IO</a:t>
            </a:r>
            <a:r>
              <a:rPr sz="2400" spc="4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device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40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43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CPU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grant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(system)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requesting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device.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622300" marR="5080" indent="-609600" algn="just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6223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DMA</a:t>
            </a:r>
            <a:r>
              <a:rPr sz="2400" spc="-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controller</a:t>
            </a:r>
            <a:r>
              <a:rPr sz="2400" spc="3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3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provided</a:t>
            </a:r>
            <a:r>
              <a:rPr sz="2400" spc="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4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interrupt </a:t>
            </a:r>
            <a:r>
              <a:rPr sz="2400" dirty="0">
                <a:latin typeface="Arial MT"/>
                <a:cs typeface="Arial MT"/>
              </a:rPr>
              <a:t>capability,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sends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interrupt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CPU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signal 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transfer.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397" rIns="0" bIns="0" rtlCol="0">
            <a:spAutoFit/>
          </a:bodyPr>
          <a:lstStyle/>
          <a:p>
            <a:pPr marL="313944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Interrupt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7876"/>
            <a:ext cx="49809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  <a:tab pos="966469" algn="l"/>
                <a:tab pos="2316480" algn="l"/>
                <a:tab pos="3179445" algn="l"/>
                <a:tab pos="3834765" algn="l"/>
                <a:tab pos="4712335" algn="l"/>
              </a:tabLst>
            </a:pPr>
            <a:r>
              <a:rPr sz="2400" spc="-2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interrupt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asks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CPU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interrupt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service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program.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23635" y="1547876"/>
            <a:ext cx="2887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3775" algn="l"/>
                <a:tab pos="2533015" algn="l"/>
              </a:tabLst>
            </a:pPr>
            <a:r>
              <a:rPr sz="2400" spc="-10" dirty="0">
                <a:latin typeface="Arial MT"/>
                <a:cs typeface="Arial MT"/>
              </a:rPr>
              <a:t>begin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executing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91459"/>
            <a:ext cx="8075295" cy="236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interrupt</a:t>
            </a:r>
            <a:r>
              <a:rPr sz="2400" spc="2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performs</a:t>
            </a:r>
            <a:r>
              <a:rPr sz="2400" spc="3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tasks</a:t>
            </a:r>
            <a:r>
              <a:rPr sz="2400" spc="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2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3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initiating 	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IO</a:t>
            </a:r>
            <a:r>
              <a:rPr sz="2400" spc="3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3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responding</a:t>
            </a:r>
            <a:r>
              <a:rPr sz="2400" spc="3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error</a:t>
            </a:r>
            <a:r>
              <a:rPr sz="2400" spc="2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encountered 	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device.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5600" marR="5715" indent="-343535" algn="just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CPU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responds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interrupts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 	cycles.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397" rIns="0" bIns="0" rtlCol="0">
            <a:spAutoFit/>
          </a:bodyPr>
          <a:lstStyle/>
          <a:p>
            <a:pPr marL="313944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Interrupt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71676"/>
            <a:ext cx="22117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5080" indent="-60960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622300" algn="l"/>
                <a:tab pos="1374775" algn="l"/>
                <a:tab pos="1947545" algn="l"/>
              </a:tabLst>
            </a:pP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CPU </a:t>
            </a:r>
            <a:r>
              <a:rPr sz="2400" spc="-10" dirty="0">
                <a:latin typeface="Arial MT"/>
                <a:cs typeface="Arial MT"/>
              </a:rPr>
              <a:t>transfer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30" dirty="0">
                <a:latin typeface="Arial MT"/>
                <a:cs typeface="Arial MT"/>
              </a:rPr>
              <a:t>of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4027" y="1471676"/>
            <a:ext cx="12827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responds control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4020" y="1471676"/>
            <a:ext cx="4383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00"/>
              </a:spcBef>
              <a:tabLst>
                <a:tab pos="509270" algn="l"/>
                <a:tab pos="560705" algn="l"/>
                <a:tab pos="1073150" algn="l"/>
                <a:tab pos="1191895" algn="l"/>
                <a:tab pos="2417445" algn="l"/>
                <a:tab pos="2602865" algn="l"/>
                <a:tab pos="3654425" algn="l"/>
                <a:tab pos="4200525" algn="l"/>
              </a:tabLst>
            </a:pP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interrupt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request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by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	</a:t>
            </a:r>
            <a:r>
              <a:rPr sz="2400" spc="-2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		</a:t>
            </a:r>
            <a:r>
              <a:rPr sz="2400" spc="-10" dirty="0">
                <a:latin typeface="Arial MT"/>
                <a:cs typeface="Arial MT"/>
              </a:rPr>
              <a:t>interrupt</a:t>
            </a:r>
            <a:r>
              <a:rPr sz="2400" dirty="0">
                <a:latin typeface="Arial MT"/>
                <a:cs typeface="Arial MT"/>
              </a:rPr>
              <a:t>		</a:t>
            </a:r>
            <a:r>
              <a:rPr sz="2400" spc="-10" dirty="0">
                <a:latin typeface="Arial MT"/>
                <a:cs typeface="Arial MT"/>
              </a:rPr>
              <a:t>handler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22411" y="1837435"/>
            <a:ext cx="480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like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2203196"/>
            <a:ext cx="8076565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subroutine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call.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taken: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621665" indent="-608965">
              <a:lnSpc>
                <a:spcPct val="100000"/>
              </a:lnSpc>
              <a:buClr>
                <a:srgbClr val="000099"/>
              </a:buClr>
              <a:buSzPct val="75000"/>
              <a:buAutoNum type="arabicPeriod"/>
              <a:tabLst>
                <a:tab pos="6216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CPU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identifies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source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interrupt.</a:t>
            </a:r>
            <a:endParaRPr sz="2400">
              <a:latin typeface="Arial MT"/>
              <a:cs typeface="Arial MT"/>
            </a:endParaRPr>
          </a:p>
          <a:p>
            <a:pPr marL="622300" marR="8890" indent="-60960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75000"/>
              <a:buAutoNum type="arabicPeriod"/>
              <a:tabLst>
                <a:tab pos="6223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CPU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obtains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required </a:t>
            </a:r>
            <a:r>
              <a:rPr sz="2400" dirty="0">
                <a:latin typeface="Arial MT"/>
                <a:cs typeface="Arial MT"/>
              </a:rPr>
              <a:t>interrupt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handler.</a:t>
            </a:r>
            <a:endParaRPr sz="2400">
              <a:latin typeface="Arial MT"/>
              <a:cs typeface="Arial MT"/>
            </a:endParaRPr>
          </a:p>
          <a:p>
            <a:pPr marL="621665" indent="-608965">
              <a:lnSpc>
                <a:spcPct val="100000"/>
              </a:lnSpc>
              <a:spcBef>
                <a:spcPts val="580"/>
              </a:spcBef>
              <a:buClr>
                <a:srgbClr val="000099"/>
              </a:buClr>
              <a:buSzPct val="75000"/>
              <a:buAutoNum type="arabicPeriod"/>
              <a:tabLst>
                <a:tab pos="6216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PC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CPU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status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saved.</a:t>
            </a:r>
            <a:endParaRPr sz="2400">
              <a:latin typeface="Arial MT"/>
              <a:cs typeface="Arial MT"/>
            </a:endParaRPr>
          </a:p>
          <a:p>
            <a:pPr marL="621665" marR="5080" indent="-609600" algn="just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75000"/>
              <a:buAutoNum type="arabicPeriod"/>
              <a:tabLst>
                <a:tab pos="6216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PC</a:t>
            </a:r>
            <a:r>
              <a:rPr sz="2400" spc="-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loaded</a:t>
            </a:r>
            <a:r>
              <a:rPr sz="2400" spc="5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interrupt handler.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proceeds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until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return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spc="-10" dirty="0">
                <a:latin typeface="Arial MT"/>
                <a:cs typeface="Arial MT"/>
              </a:rPr>
              <a:t>encountered.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355</Words>
  <Application>Microsoft Office PowerPoint</Application>
  <PresentationFormat>On-screen Show (4:3)</PresentationFormat>
  <Paragraphs>103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Lecture – 21</vt:lpstr>
      <vt:lpstr>Communication Methods</vt:lpstr>
      <vt:lpstr>Buses</vt:lpstr>
      <vt:lpstr>Bus Arbitration</vt:lpstr>
      <vt:lpstr>Daisy Chaining</vt:lpstr>
      <vt:lpstr>Daisy Chaining</vt:lpstr>
      <vt:lpstr>Polling</vt:lpstr>
      <vt:lpstr>Polling</vt:lpstr>
      <vt:lpstr>Independent Requesting</vt:lpstr>
      <vt:lpstr>Independent Requesting</vt:lpstr>
      <vt:lpstr>IO Control Methods</vt:lpstr>
      <vt:lpstr>Programmed IO</vt:lpstr>
      <vt:lpstr>Memory-mapped IO</vt:lpstr>
      <vt:lpstr>IO-mapped IO</vt:lpstr>
      <vt:lpstr>Programmed IO</vt:lpstr>
      <vt:lpstr>DMA and Interrupt Breakpoints</vt:lpstr>
      <vt:lpstr>Direct Memory Access (DMA)</vt:lpstr>
      <vt:lpstr>Interrupt</vt:lpstr>
      <vt:lpstr>Interrupt</vt:lpstr>
    </vt:vector>
  </TitlesOfParts>
  <Company>cse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fsfsdfdsf</dc:title>
  <dc:creator>Eva</dc:creator>
  <cp:lastModifiedBy>ismail - [2010]</cp:lastModifiedBy>
  <cp:revision>2</cp:revision>
  <dcterms:created xsi:type="dcterms:W3CDTF">2025-07-24T08:09:06Z</dcterms:created>
  <dcterms:modified xsi:type="dcterms:W3CDTF">2025-07-24T08:10:10Z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2014-05-29T00:00:00Z</vt:filetime>
  </property>
  <property fmtid="{D5CDD505-2E9C-101B-9397-08002B2CF9AE}" pid="3" name="Creator">
    <vt:lpwstr>Acrobat PDFMaker 9.0 for PowerPoint</vt:lpwstr>
  </property>
  <property fmtid="{D5CDD505-2E9C-101B-9397-08002B2CF9AE}" pid="4" name="LastSaved">
    <vt:filetime>2025-07-24T00:00:00Z</vt:filetime>
  </property>
  <property fmtid="{D5CDD505-2E9C-101B-9397-08002B2CF9AE}" pid="5" name="Producer">
    <vt:lpwstr>Adobe PDF Library 9.0</vt:lpwstr>
  </property>
</Properties>
</file>