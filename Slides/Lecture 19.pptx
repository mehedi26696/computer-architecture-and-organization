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1210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99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99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99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99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285750" cy="5334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12750" y="134937"/>
            <a:ext cx="8731250" cy="274637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409575" y="0"/>
            <a:ext cx="278130" cy="271780"/>
          </a:xfrm>
          <a:custGeom>
            <a:avLst/>
            <a:gdLst/>
            <a:ahLst/>
            <a:cxnLst/>
            <a:rect l="l" t="t" r="r" b="b"/>
            <a:pathLst>
              <a:path w="278130" h="271780">
                <a:moveTo>
                  <a:pt x="138112" y="134937"/>
                </a:moveTo>
                <a:lnTo>
                  <a:pt x="0" y="134937"/>
                </a:lnTo>
                <a:lnTo>
                  <a:pt x="0" y="271462"/>
                </a:lnTo>
                <a:lnTo>
                  <a:pt x="138112" y="271462"/>
                </a:lnTo>
                <a:lnTo>
                  <a:pt x="138112" y="134937"/>
                </a:lnTo>
                <a:close/>
              </a:path>
              <a:path w="278130" h="271780">
                <a:moveTo>
                  <a:pt x="277812" y="0"/>
                </a:moveTo>
                <a:lnTo>
                  <a:pt x="138112" y="0"/>
                </a:lnTo>
                <a:lnTo>
                  <a:pt x="138112" y="134937"/>
                </a:lnTo>
                <a:lnTo>
                  <a:pt x="277812" y="134937"/>
                </a:lnTo>
                <a:lnTo>
                  <a:pt x="277812" y="0"/>
                </a:lnTo>
                <a:close/>
              </a:path>
            </a:pathLst>
          </a:custGeom>
          <a:solidFill>
            <a:srgbClr val="CCCC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547687" y="134937"/>
            <a:ext cx="139700" cy="141605"/>
          </a:xfrm>
          <a:custGeom>
            <a:avLst/>
            <a:gdLst/>
            <a:ahLst/>
            <a:cxnLst/>
            <a:rect l="l" t="t" r="r" b="b"/>
            <a:pathLst>
              <a:path w="139700" h="141604">
                <a:moveTo>
                  <a:pt x="139700" y="0"/>
                </a:moveTo>
                <a:lnTo>
                  <a:pt x="0" y="0"/>
                </a:lnTo>
                <a:lnTo>
                  <a:pt x="0" y="141287"/>
                </a:lnTo>
                <a:lnTo>
                  <a:pt x="139700" y="141287"/>
                </a:lnTo>
                <a:lnTo>
                  <a:pt x="139700" y="0"/>
                </a:lnTo>
                <a:close/>
              </a:path>
            </a:pathLst>
          </a:custGeom>
          <a:solidFill>
            <a:srgbClr val="99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274637" y="274637"/>
            <a:ext cx="136525" cy="135255"/>
          </a:xfrm>
          <a:custGeom>
            <a:avLst/>
            <a:gdLst/>
            <a:ahLst/>
            <a:cxnLst/>
            <a:rect l="l" t="t" r="r" b="b"/>
            <a:pathLst>
              <a:path w="136525" h="135254">
                <a:moveTo>
                  <a:pt x="0" y="134937"/>
                </a:moveTo>
                <a:lnTo>
                  <a:pt x="136525" y="134937"/>
                </a:lnTo>
                <a:lnTo>
                  <a:pt x="136525" y="0"/>
                </a:lnTo>
                <a:lnTo>
                  <a:pt x="0" y="0"/>
                </a:lnTo>
                <a:lnTo>
                  <a:pt x="0" y="134937"/>
                </a:lnTo>
                <a:close/>
              </a:path>
            </a:pathLst>
          </a:custGeom>
          <a:solidFill>
            <a:srgbClr val="CCCC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31762" y="136525"/>
            <a:ext cx="141605" cy="138430"/>
          </a:xfrm>
          <a:custGeom>
            <a:avLst/>
            <a:gdLst/>
            <a:ahLst/>
            <a:cxnLst/>
            <a:rect l="l" t="t" r="r" b="b"/>
            <a:pathLst>
              <a:path w="141604" h="138429">
                <a:moveTo>
                  <a:pt x="141287" y="0"/>
                </a:moveTo>
                <a:lnTo>
                  <a:pt x="0" y="0"/>
                </a:lnTo>
                <a:lnTo>
                  <a:pt x="0" y="138112"/>
                </a:lnTo>
                <a:lnTo>
                  <a:pt x="141287" y="138112"/>
                </a:lnTo>
                <a:lnTo>
                  <a:pt x="141287" y="0"/>
                </a:lnTo>
                <a:close/>
              </a:path>
            </a:pathLst>
          </a:custGeom>
          <a:solidFill>
            <a:srgbClr val="0000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274637" y="271462"/>
            <a:ext cx="273050" cy="274955"/>
          </a:xfrm>
          <a:custGeom>
            <a:avLst/>
            <a:gdLst/>
            <a:ahLst/>
            <a:cxnLst/>
            <a:rect l="l" t="t" r="r" b="b"/>
            <a:pathLst>
              <a:path w="273050" h="274955">
                <a:moveTo>
                  <a:pt x="273050" y="0"/>
                </a:moveTo>
                <a:lnTo>
                  <a:pt x="134937" y="0"/>
                </a:lnTo>
                <a:lnTo>
                  <a:pt x="134937" y="138112"/>
                </a:lnTo>
                <a:lnTo>
                  <a:pt x="0" y="138112"/>
                </a:lnTo>
                <a:lnTo>
                  <a:pt x="0" y="274637"/>
                </a:lnTo>
                <a:lnTo>
                  <a:pt x="136525" y="274637"/>
                </a:lnTo>
                <a:lnTo>
                  <a:pt x="136525" y="138112"/>
                </a:lnTo>
                <a:lnTo>
                  <a:pt x="273050" y="138112"/>
                </a:lnTo>
                <a:lnTo>
                  <a:pt x="273050" y="0"/>
                </a:lnTo>
                <a:close/>
              </a:path>
            </a:pathLst>
          </a:custGeom>
          <a:solidFill>
            <a:srgbClr val="99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41990" y="519175"/>
            <a:ext cx="7260018" cy="1000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99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15924" y="1404937"/>
            <a:ext cx="8312150" cy="4268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5558" y="2715260"/>
            <a:ext cx="2991485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dirty="0">
                <a:solidFill>
                  <a:srgbClr val="000099"/>
                </a:solidFill>
              </a:rPr>
              <a:t>Lecture</a:t>
            </a:r>
            <a:r>
              <a:rPr sz="4000" spc="-95" dirty="0">
                <a:solidFill>
                  <a:srgbClr val="000099"/>
                </a:solidFill>
              </a:rPr>
              <a:t> </a:t>
            </a:r>
            <a:r>
              <a:rPr sz="4000" dirty="0">
                <a:solidFill>
                  <a:srgbClr val="000099"/>
                </a:solidFill>
              </a:rPr>
              <a:t>–</a:t>
            </a:r>
            <a:r>
              <a:rPr sz="4000" spc="5" dirty="0">
                <a:solidFill>
                  <a:srgbClr val="000099"/>
                </a:solidFill>
              </a:rPr>
              <a:t> </a:t>
            </a:r>
            <a:r>
              <a:rPr lang="en-US" sz="4000" spc="-25" dirty="0">
                <a:solidFill>
                  <a:srgbClr val="000099"/>
                </a:solidFill>
              </a:rPr>
              <a:t>19</a:t>
            </a:r>
            <a:endParaRPr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3012" rIns="0" bIns="0" rtlCol="0">
            <a:spAutoFit/>
          </a:bodyPr>
          <a:lstStyle/>
          <a:p>
            <a:pPr marL="1640205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Memory</a:t>
            </a:r>
            <a:r>
              <a:rPr sz="3600" spc="-70" dirty="0"/>
              <a:t> </a:t>
            </a:r>
            <a:r>
              <a:rPr sz="3600" spc="-10" dirty="0"/>
              <a:t>Hierarchy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35940" y="1700276"/>
            <a:ext cx="8048625" cy="4195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marR="1089660" indent="-344805">
              <a:lnSpc>
                <a:spcPct val="100000"/>
              </a:lnSpc>
              <a:spcBef>
                <a:spcPts val="100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A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memory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hierarchy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consists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multiple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levels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of </a:t>
            </a:r>
            <a:r>
              <a:rPr sz="2400" dirty="0">
                <a:latin typeface="Arial MT"/>
                <a:cs typeface="Arial MT"/>
              </a:rPr>
              <a:t>memory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different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speeds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sizes.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Clr>
                <a:srgbClr val="000099"/>
              </a:buClr>
              <a:buFont typeface="Wingdings"/>
              <a:buChar char=""/>
            </a:pPr>
            <a:endParaRPr sz="2400">
              <a:latin typeface="Arial MT"/>
              <a:cs typeface="Arial MT"/>
            </a:endParaRPr>
          </a:p>
          <a:p>
            <a:pPr marL="356870" marR="5080" indent="-344805">
              <a:lnSpc>
                <a:spcPct val="100000"/>
              </a:lnSpc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faster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memories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more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expensive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per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bit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 </a:t>
            </a:r>
            <a:r>
              <a:rPr sz="2400" dirty="0">
                <a:latin typeface="Arial MT"/>
                <a:cs typeface="Arial MT"/>
              </a:rPr>
              <a:t>slower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memories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thus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smaller.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Clr>
                <a:srgbClr val="000099"/>
              </a:buClr>
              <a:buFont typeface="Wingdings"/>
              <a:buChar char=""/>
            </a:pPr>
            <a:endParaRPr sz="2400">
              <a:latin typeface="Arial MT"/>
              <a:cs typeface="Arial MT"/>
            </a:endParaRPr>
          </a:p>
          <a:p>
            <a:pPr marL="356870" indent="-344170">
              <a:lnSpc>
                <a:spcPct val="100000"/>
              </a:lnSpc>
              <a:spcBef>
                <a:spcPts val="5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Three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technologies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used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building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memory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hierarchies:</a:t>
            </a:r>
            <a:endParaRPr sz="2400">
              <a:latin typeface="Arial MT"/>
              <a:cs typeface="Arial MT"/>
            </a:endParaRPr>
          </a:p>
          <a:p>
            <a:pPr marL="690245" lvl="1" indent="-333375">
              <a:lnSpc>
                <a:spcPct val="100000"/>
              </a:lnSpc>
              <a:spcBef>
                <a:spcPts val="575"/>
              </a:spcBef>
              <a:buClr>
                <a:srgbClr val="000099"/>
              </a:buClr>
              <a:buAutoNum type="arabicPeriod"/>
              <a:tabLst>
                <a:tab pos="690245" algn="l"/>
              </a:tabLst>
            </a:pPr>
            <a:r>
              <a:rPr sz="2400" dirty="0">
                <a:latin typeface="Arial MT"/>
                <a:cs typeface="Arial MT"/>
              </a:rPr>
              <a:t>DRAM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(Main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memory)</a:t>
            </a:r>
            <a:endParaRPr sz="2400">
              <a:latin typeface="Arial MT"/>
              <a:cs typeface="Arial MT"/>
            </a:endParaRPr>
          </a:p>
          <a:p>
            <a:pPr marL="690245" lvl="1" indent="-333375">
              <a:lnSpc>
                <a:spcPct val="100000"/>
              </a:lnSpc>
              <a:spcBef>
                <a:spcPts val="575"/>
              </a:spcBef>
              <a:buClr>
                <a:srgbClr val="000099"/>
              </a:buClr>
              <a:buAutoNum type="arabicPeriod"/>
              <a:tabLst>
                <a:tab pos="690245" algn="l"/>
              </a:tabLst>
            </a:pPr>
            <a:r>
              <a:rPr sz="2400" dirty="0">
                <a:latin typeface="Arial MT"/>
                <a:cs typeface="Arial MT"/>
              </a:rPr>
              <a:t>SRAM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(Cache)</a:t>
            </a:r>
            <a:endParaRPr sz="2400">
              <a:latin typeface="Arial MT"/>
              <a:cs typeface="Arial MT"/>
            </a:endParaRPr>
          </a:p>
          <a:p>
            <a:pPr marL="690245" lvl="1" indent="-333375">
              <a:lnSpc>
                <a:spcPct val="100000"/>
              </a:lnSpc>
              <a:spcBef>
                <a:spcPts val="575"/>
              </a:spcBef>
              <a:buClr>
                <a:srgbClr val="000099"/>
              </a:buClr>
              <a:buAutoNum type="arabicPeriod"/>
              <a:tabLst>
                <a:tab pos="690245" algn="l"/>
              </a:tabLst>
            </a:pPr>
            <a:r>
              <a:rPr sz="2400" dirty="0">
                <a:latin typeface="Arial MT"/>
                <a:cs typeface="Arial MT"/>
              </a:rPr>
              <a:t>Magnetic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disk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(Hard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disk)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85799" y="569467"/>
            <a:ext cx="677735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34895" marR="5080" indent="-232283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The</a:t>
            </a:r>
            <a:r>
              <a:rPr sz="3600" spc="-114" dirty="0"/>
              <a:t> </a:t>
            </a:r>
            <a:r>
              <a:rPr sz="3600" dirty="0"/>
              <a:t>Basic</a:t>
            </a:r>
            <a:r>
              <a:rPr sz="3600" spc="-35" dirty="0"/>
              <a:t> </a:t>
            </a:r>
            <a:r>
              <a:rPr sz="3600" dirty="0"/>
              <a:t>Structure</a:t>
            </a:r>
            <a:r>
              <a:rPr sz="3600" spc="-55" dirty="0"/>
              <a:t> </a:t>
            </a:r>
            <a:r>
              <a:rPr sz="3600" dirty="0"/>
              <a:t>of</a:t>
            </a:r>
            <a:r>
              <a:rPr sz="3600" spc="-45" dirty="0"/>
              <a:t> </a:t>
            </a:r>
            <a:r>
              <a:rPr sz="3600" spc="-10" dirty="0"/>
              <a:t>Memory Hierarchy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8725" y="2162175"/>
            <a:ext cx="6810375" cy="40195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4912" rIns="0" bIns="0" rtlCol="0">
            <a:spAutoFit/>
          </a:bodyPr>
          <a:lstStyle/>
          <a:p>
            <a:pPr marL="1640205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Memory</a:t>
            </a:r>
            <a:r>
              <a:rPr sz="3600" spc="-70" dirty="0"/>
              <a:t> </a:t>
            </a:r>
            <a:r>
              <a:rPr sz="3600" spc="-10" dirty="0"/>
              <a:t>Hierarchy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35940" y="4196588"/>
            <a:ext cx="792734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marR="5080" indent="-344805">
              <a:lnSpc>
                <a:spcPct val="100000"/>
              </a:lnSpc>
              <a:spcBef>
                <a:spcPts val="100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goal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provide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user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much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memory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as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available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cheapest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technology,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while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providing </a:t>
            </a:r>
            <a:r>
              <a:rPr sz="2400" dirty="0">
                <a:latin typeface="Arial MT"/>
                <a:cs typeface="Arial MT"/>
              </a:rPr>
              <a:t>access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at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speed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offered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fastest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memory.</a:t>
            </a:r>
            <a:endParaRPr sz="2400">
              <a:latin typeface="Arial MT"/>
              <a:cs typeface="Arial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08050" y="1822450"/>
          <a:ext cx="7556500" cy="17506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9445">
                <a:tc>
                  <a:txBody>
                    <a:bodyPr/>
                    <a:lstStyle/>
                    <a:p>
                      <a:pPr marL="551815" marR="532130" indent="19494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Memory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Technology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b="1" spc="-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Typical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Access</a:t>
                      </a:r>
                      <a:r>
                        <a:rPr sz="1800" b="1" spc="-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Time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/>
                    <a:p>
                      <a:pPr marL="734695" marR="367030" indent="-36004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$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Per</a:t>
                      </a:r>
                      <a:r>
                        <a:rPr sz="1800" b="1" spc="-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GB</a:t>
                      </a:r>
                      <a:r>
                        <a:rPr sz="1800" b="1" spc="1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in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2008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9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SRAM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EDEFF"/>
                    </a:solidFill>
                  </a:tcPr>
                </a:tc>
                <a:tc>
                  <a:txBody>
                    <a:bodyPr/>
                    <a:lstStyle/>
                    <a:p>
                      <a:pPr marL="963294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0.5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–</a:t>
                      </a:r>
                      <a:r>
                        <a:rPr sz="18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2.5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ns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ED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2000</a:t>
                      </a:r>
                      <a:r>
                        <a:rPr sz="1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–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5000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ED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DRAM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E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50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–</a:t>
                      </a:r>
                      <a:r>
                        <a:rPr sz="18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70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ns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E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20</a:t>
                      </a:r>
                      <a:r>
                        <a:rPr sz="18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–</a:t>
                      </a:r>
                      <a:r>
                        <a:rPr sz="18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75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Magnetic</a:t>
                      </a:r>
                      <a:r>
                        <a:rPr sz="180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Disk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ED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5,000,000</a:t>
                      </a:r>
                      <a:r>
                        <a:rPr sz="1800" spc="-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–</a:t>
                      </a:r>
                      <a:r>
                        <a:rPr sz="1800" spc="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20,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000,000</a:t>
                      </a:r>
                      <a:r>
                        <a:rPr sz="18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ns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EDEFF"/>
                    </a:solidFill>
                  </a:tcPr>
                </a:tc>
                <a:tc>
                  <a:txBody>
                    <a:bodyPr/>
                    <a:lstStyle/>
                    <a:p>
                      <a:pPr marL="57912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0.20</a:t>
                      </a:r>
                      <a:r>
                        <a:rPr sz="18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–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2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ED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7312" rIns="0" bIns="0" rtlCol="0">
            <a:spAutoFit/>
          </a:bodyPr>
          <a:lstStyle/>
          <a:p>
            <a:pPr marL="1487805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Two</a:t>
            </a:r>
            <a:r>
              <a:rPr sz="3600" spc="-130" dirty="0"/>
              <a:t> </a:t>
            </a:r>
            <a:r>
              <a:rPr sz="3600" dirty="0"/>
              <a:t>level</a:t>
            </a:r>
            <a:r>
              <a:rPr sz="3600" spc="35" dirty="0"/>
              <a:t> </a:t>
            </a:r>
            <a:r>
              <a:rPr sz="3600" spc="-10" dirty="0"/>
              <a:t>Hierarchy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00400" y="2266950"/>
            <a:ext cx="2895600" cy="3238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88335" y="462788"/>
            <a:ext cx="27724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Terminology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383540" y="1176019"/>
            <a:ext cx="8462645" cy="55257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105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200" b="1" u="sng" spc="-10" dirty="0">
                <a:solidFill>
                  <a:srgbClr val="006600"/>
                </a:solidFill>
                <a:uFill>
                  <a:solidFill>
                    <a:srgbClr val="006600"/>
                  </a:solidFill>
                </a:uFill>
                <a:latin typeface="Arial"/>
                <a:cs typeface="Arial"/>
              </a:rPr>
              <a:t>Block:</a:t>
            </a:r>
            <a:endParaRPr sz="2200">
              <a:latin typeface="Arial"/>
              <a:cs typeface="Arial"/>
            </a:endParaRPr>
          </a:p>
          <a:p>
            <a:pPr marL="356870" marR="44450">
              <a:lnSpc>
                <a:spcPts val="2110"/>
              </a:lnSpc>
              <a:spcBef>
                <a:spcPts val="515"/>
              </a:spcBef>
            </a:pP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minimum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amount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information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that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can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be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either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present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or </a:t>
            </a:r>
            <a:r>
              <a:rPr sz="2200" dirty="0">
                <a:latin typeface="Arial MT"/>
                <a:cs typeface="Arial MT"/>
              </a:rPr>
              <a:t>not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present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two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level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hierarchy.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2200">
              <a:latin typeface="Arial MT"/>
              <a:cs typeface="Arial MT"/>
            </a:endParaRPr>
          </a:p>
          <a:p>
            <a:pPr marL="356870" indent="-344170">
              <a:lnSpc>
                <a:spcPct val="100000"/>
              </a:lnSpc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200" b="1" u="sng" spc="-20" dirty="0">
                <a:solidFill>
                  <a:srgbClr val="006600"/>
                </a:solidFill>
                <a:uFill>
                  <a:solidFill>
                    <a:srgbClr val="006600"/>
                  </a:solidFill>
                </a:uFill>
                <a:latin typeface="Arial"/>
                <a:cs typeface="Arial"/>
              </a:rPr>
              <a:t>Hit:</a:t>
            </a:r>
            <a:endParaRPr sz="2200">
              <a:latin typeface="Arial"/>
              <a:cs typeface="Arial"/>
            </a:endParaRPr>
          </a:p>
          <a:p>
            <a:pPr marL="356870" marR="403225">
              <a:lnSpc>
                <a:spcPts val="2110"/>
              </a:lnSpc>
              <a:spcBef>
                <a:spcPts val="509"/>
              </a:spcBef>
            </a:pPr>
            <a:r>
              <a:rPr sz="2200" dirty="0">
                <a:latin typeface="Arial MT"/>
                <a:cs typeface="Arial MT"/>
              </a:rPr>
              <a:t>Data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requested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by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processor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appears in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some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block in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the </a:t>
            </a:r>
            <a:r>
              <a:rPr sz="2200" dirty="0">
                <a:latin typeface="Arial MT"/>
                <a:cs typeface="Arial MT"/>
              </a:rPr>
              <a:t>upper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level.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2200">
              <a:latin typeface="Arial MT"/>
              <a:cs typeface="Arial MT"/>
            </a:endParaRPr>
          </a:p>
          <a:p>
            <a:pPr marL="356870" indent="-344170">
              <a:lnSpc>
                <a:spcPct val="100000"/>
              </a:lnSpc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200" b="1" u="sng" spc="-10" dirty="0">
                <a:solidFill>
                  <a:srgbClr val="006600"/>
                </a:solidFill>
                <a:uFill>
                  <a:solidFill>
                    <a:srgbClr val="006600"/>
                  </a:solidFill>
                </a:uFill>
                <a:latin typeface="Arial"/>
                <a:cs typeface="Arial"/>
              </a:rPr>
              <a:t>Miss:</a:t>
            </a:r>
            <a:endParaRPr sz="2200">
              <a:latin typeface="Arial"/>
              <a:cs typeface="Arial"/>
            </a:endParaRPr>
          </a:p>
          <a:p>
            <a:pPr marL="356870">
              <a:lnSpc>
                <a:spcPct val="100000"/>
              </a:lnSpc>
            </a:pPr>
            <a:r>
              <a:rPr sz="2200" dirty="0">
                <a:latin typeface="Arial MT"/>
                <a:cs typeface="Arial MT"/>
              </a:rPr>
              <a:t>Data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requested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by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processor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 not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present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upper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level.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200">
              <a:latin typeface="Arial MT"/>
              <a:cs typeface="Arial MT"/>
            </a:endParaRPr>
          </a:p>
          <a:p>
            <a:pPr marL="356870" indent="-344170">
              <a:lnSpc>
                <a:spcPct val="100000"/>
              </a:lnSpc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200" b="1" u="sng" dirty="0">
                <a:solidFill>
                  <a:srgbClr val="006600"/>
                </a:solidFill>
                <a:uFill>
                  <a:solidFill>
                    <a:srgbClr val="006600"/>
                  </a:solidFill>
                </a:uFill>
                <a:latin typeface="Arial"/>
                <a:cs typeface="Arial"/>
              </a:rPr>
              <a:t>Hit</a:t>
            </a:r>
            <a:r>
              <a:rPr sz="2200" b="1" u="sng" spc="-35" dirty="0">
                <a:solidFill>
                  <a:srgbClr val="006600"/>
                </a:solidFill>
                <a:uFill>
                  <a:solidFill>
                    <a:srgbClr val="006600"/>
                  </a:solidFill>
                </a:uFill>
                <a:latin typeface="Arial"/>
                <a:cs typeface="Arial"/>
              </a:rPr>
              <a:t> </a:t>
            </a:r>
            <a:r>
              <a:rPr sz="2200" b="1" u="sng" dirty="0">
                <a:solidFill>
                  <a:srgbClr val="006600"/>
                </a:solidFill>
                <a:uFill>
                  <a:solidFill>
                    <a:srgbClr val="006600"/>
                  </a:solidFill>
                </a:uFill>
                <a:latin typeface="Arial"/>
                <a:cs typeface="Arial"/>
              </a:rPr>
              <a:t>rate</a:t>
            </a:r>
            <a:r>
              <a:rPr sz="2200" b="1" u="sng" spc="-25" dirty="0">
                <a:solidFill>
                  <a:srgbClr val="006600"/>
                </a:solidFill>
                <a:uFill>
                  <a:solidFill>
                    <a:srgbClr val="006600"/>
                  </a:solidFill>
                </a:uFill>
                <a:latin typeface="Arial"/>
                <a:cs typeface="Arial"/>
              </a:rPr>
              <a:t> </a:t>
            </a:r>
            <a:r>
              <a:rPr sz="2200" b="1" u="sng" dirty="0">
                <a:solidFill>
                  <a:srgbClr val="006600"/>
                </a:solidFill>
                <a:uFill>
                  <a:solidFill>
                    <a:srgbClr val="006600"/>
                  </a:solidFill>
                </a:uFill>
                <a:latin typeface="Arial"/>
                <a:cs typeface="Arial"/>
              </a:rPr>
              <a:t>/</a:t>
            </a:r>
            <a:r>
              <a:rPr sz="2200" b="1" u="sng" spc="-5" dirty="0">
                <a:solidFill>
                  <a:srgbClr val="006600"/>
                </a:solidFill>
                <a:uFill>
                  <a:solidFill>
                    <a:srgbClr val="006600"/>
                  </a:solidFill>
                </a:uFill>
                <a:latin typeface="Arial"/>
                <a:cs typeface="Arial"/>
              </a:rPr>
              <a:t> </a:t>
            </a:r>
            <a:r>
              <a:rPr sz="2200" b="1" u="sng" dirty="0">
                <a:solidFill>
                  <a:srgbClr val="006600"/>
                </a:solidFill>
                <a:uFill>
                  <a:solidFill>
                    <a:srgbClr val="006600"/>
                  </a:solidFill>
                </a:uFill>
                <a:latin typeface="Arial"/>
                <a:cs typeface="Arial"/>
              </a:rPr>
              <a:t>Hit</a:t>
            </a:r>
            <a:r>
              <a:rPr sz="2200" b="1" u="sng" spc="-10" dirty="0">
                <a:solidFill>
                  <a:srgbClr val="006600"/>
                </a:solidFill>
                <a:uFill>
                  <a:solidFill>
                    <a:srgbClr val="006600"/>
                  </a:solidFill>
                </a:uFill>
                <a:latin typeface="Arial"/>
                <a:cs typeface="Arial"/>
              </a:rPr>
              <a:t> ratio:</a:t>
            </a:r>
            <a:endParaRPr sz="2200">
              <a:latin typeface="Arial"/>
              <a:cs typeface="Arial"/>
            </a:endParaRPr>
          </a:p>
          <a:p>
            <a:pPr marL="356870">
              <a:lnSpc>
                <a:spcPct val="100000"/>
              </a:lnSpc>
            </a:pP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fraction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memory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accesses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found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upper</a:t>
            </a:r>
            <a:r>
              <a:rPr sz="2200" spc="-10" dirty="0">
                <a:latin typeface="Arial MT"/>
                <a:cs typeface="Arial MT"/>
              </a:rPr>
              <a:t> level.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200">
              <a:latin typeface="Arial MT"/>
              <a:cs typeface="Arial MT"/>
            </a:endParaRPr>
          </a:p>
          <a:p>
            <a:pPr marL="356870" indent="-344170">
              <a:lnSpc>
                <a:spcPct val="100000"/>
              </a:lnSpc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200" b="1" u="sng" dirty="0">
                <a:solidFill>
                  <a:srgbClr val="006600"/>
                </a:solidFill>
                <a:uFill>
                  <a:solidFill>
                    <a:srgbClr val="006600"/>
                  </a:solidFill>
                </a:uFill>
                <a:latin typeface="Arial"/>
                <a:cs typeface="Arial"/>
              </a:rPr>
              <a:t>Miss</a:t>
            </a:r>
            <a:r>
              <a:rPr sz="2200" b="1" u="sng" spc="-40" dirty="0">
                <a:solidFill>
                  <a:srgbClr val="006600"/>
                </a:solidFill>
                <a:uFill>
                  <a:solidFill>
                    <a:srgbClr val="006600"/>
                  </a:solidFill>
                </a:uFill>
                <a:latin typeface="Arial"/>
                <a:cs typeface="Arial"/>
              </a:rPr>
              <a:t> </a:t>
            </a:r>
            <a:r>
              <a:rPr sz="2200" b="1" u="sng" spc="-10" dirty="0">
                <a:solidFill>
                  <a:srgbClr val="006600"/>
                </a:solidFill>
                <a:uFill>
                  <a:solidFill>
                    <a:srgbClr val="006600"/>
                  </a:solidFill>
                </a:uFill>
                <a:latin typeface="Arial"/>
                <a:cs typeface="Arial"/>
              </a:rPr>
              <a:t>rate:</a:t>
            </a:r>
            <a:endParaRPr sz="2200">
              <a:latin typeface="Arial"/>
              <a:cs typeface="Arial"/>
            </a:endParaRPr>
          </a:p>
          <a:p>
            <a:pPr marL="356870" marR="29209">
              <a:lnSpc>
                <a:spcPts val="2110"/>
              </a:lnSpc>
              <a:spcBef>
                <a:spcPts val="515"/>
              </a:spcBef>
            </a:pP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fraction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memory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accesses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not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found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upper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level.</a:t>
            </a:r>
            <a:r>
              <a:rPr sz="2200" spc="35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(1- </a:t>
            </a:r>
            <a:r>
              <a:rPr sz="2200" dirty="0">
                <a:latin typeface="Arial MT"/>
                <a:cs typeface="Arial MT"/>
              </a:rPr>
              <a:t>Hit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rate)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630" rIns="0" bIns="0" rtlCol="0">
            <a:spAutoFit/>
          </a:bodyPr>
          <a:lstStyle/>
          <a:p>
            <a:pPr marL="2258695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Terminology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35940" y="1550924"/>
            <a:ext cx="8065134" cy="335407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385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b="1" u="sng" dirty="0">
                <a:solidFill>
                  <a:srgbClr val="006600"/>
                </a:solidFill>
                <a:uFill>
                  <a:solidFill>
                    <a:srgbClr val="006600"/>
                  </a:solidFill>
                </a:uFill>
                <a:latin typeface="Arial"/>
                <a:cs typeface="Arial"/>
              </a:rPr>
              <a:t>Hit</a:t>
            </a:r>
            <a:r>
              <a:rPr sz="2400" b="1" u="sng" spc="-65" dirty="0">
                <a:solidFill>
                  <a:srgbClr val="006600"/>
                </a:solidFill>
                <a:uFill>
                  <a:solidFill>
                    <a:srgbClr val="006600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spc="-10" dirty="0">
                <a:solidFill>
                  <a:srgbClr val="006600"/>
                </a:solidFill>
                <a:uFill>
                  <a:solidFill>
                    <a:srgbClr val="006600"/>
                  </a:solidFill>
                </a:uFill>
                <a:latin typeface="Arial"/>
                <a:cs typeface="Arial"/>
              </a:rPr>
              <a:t>Time:</a:t>
            </a:r>
            <a:endParaRPr sz="2400">
              <a:latin typeface="Arial"/>
              <a:cs typeface="Arial"/>
            </a:endParaRPr>
          </a:p>
          <a:p>
            <a:pPr marL="356870" marR="915035">
              <a:lnSpc>
                <a:spcPts val="2590"/>
              </a:lnSpc>
              <a:spcBef>
                <a:spcPts val="615"/>
              </a:spcBef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time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needed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access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level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memory </a:t>
            </a:r>
            <a:r>
              <a:rPr sz="2400" dirty="0">
                <a:latin typeface="Arial MT"/>
                <a:cs typeface="Arial MT"/>
              </a:rPr>
              <a:t>hierarchy,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including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time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required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determine </a:t>
            </a:r>
            <a:r>
              <a:rPr sz="2400" dirty="0">
                <a:latin typeface="Arial MT"/>
                <a:cs typeface="Arial MT"/>
              </a:rPr>
              <a:t>whether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access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hit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miss.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2400">
              <a:latin typeface="Arial MT"/>
              <a:cs typeface="Arial MT"/>
            </a:endParaRPr>
          </a:p>
          <a:p>
            <a:pPr marL="356870" indent="-344170">
              <a:lnSpc>
                <a:spcPct val="100000"/>
              </a:lnSpc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b="1" u="sng" dirty="0">
                <a:solidFill>
                  <a:srgbClr val="006600"/>
                </a:solidFill>
                <a:uFill>
                  <a:solidFill>
                    <a:srgbClr val="006600"/>
                  </a:solidFill>
                </a:uFill>
                <a:latin typeface="Arial"/>
                <a:cs typeface="Arial"/>
              </a:rPr>
              <a:t>Miss</a:t>
            </a:r>
            <a:r>
              <a:rPr sz="2400" b="1" u="sng" spc="-85" dirty="0">
                <a:solidFill>
                  <a:srgbClr val="006600"/>
                </a:solidFill>
                <a:uFill>
                  <a:solidFill>
                    <a:srgbClr val="006600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spc="-10" dirty="0">
                <a:solidFill>
                  <a:srgbClr val="006600"/>
                </a:solidFill>
                <a:uFill>
                  <a:solidFill>
                    <a:srgbClr val="006600"/>
                  </a:solidFill>
                </a:uFill>
                <a:latin typeface="Arial"/>
                <a:cs typeface="Arial"/>
              </a:rPr>
              <a:t>Penalty:</a:t>
            </a:r>
            <a:endParaRPr sz="2400">
              <a:latin typeface="Arial"/>
              <a:cs typeface="Arial"/>
            </a:endParaRPr>
          </a:p>
          <a:p>
            <a:pPr marL="356870" marR="5080">
              <a:lnSpc>
                <a:spcPts val="2590"/>
              </a:lnSpc>
              <a:spcBef>
                <a:spcPts val="615"/>
              </a:spcBef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time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replace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block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upper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level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25" dirty="0">
                <a:latin typeface="Arial MT"/>
                <a:cs typeface="Arial MT"/>
              </a:rPr>
              <a:t> the </a:t>
            </a:r>
            <a:r>
              <a:rPr sz="2400" spc="-10" dirty="0">
                <a:latin typeface="Arial MT"/>
                <a:cs typeface="Arial MT"/>
              </a:rPr>
              <a:t>corresponding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block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lower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level,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plus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time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to </a:t>
            </a:r>
            <a:r>
              <a:rPr sz="2400" dirty="0">
                <a:latin typeface="Arial MT"/>
                <a:cs typeface="Arial MT"/>
              </a:rPr>
              <a:t>deliver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this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block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processor.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89758" y="608044"/>
            <a:ext cx="43649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Principle</a:t>
            </a:r>
            <a:r>
              <a:rPr sz="3600" spc="-70" dirty="0"/>
              <a:t> </a:t>
            </a:r>
            <a:r>
              <a:rPr sz="3600" dirty="0"/>
              <a:t>of</a:t>
            </a:r>
            <a:r>
              <a:rPr sz="3600" spc="-35" dirty="0"/>
              <a:t> </a:t>
            </a:r>
            <a:r>
              <a:rPr sz="3600" spc="-10" dirty="0"/>
              <a:t>Locality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35940" y="1517713"/>
            <a:ext cx="7979409" cy="4122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marR="5080" indent="-344805">
              <a:lnSpc>
                <a:spcPct val="100000"/>
              </a:lnSpc>
              <a:spcBef>
                <a:spcPts val="100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It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states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program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access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relatively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small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portion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of </a:t>
            </a:r>
            <a:r>
              <a:rPr sz="2400" dirty="0">
                <a:latin typeface="Arial MT"/>
                <a:cs typeface="Arial MT"/>
              </a:rPr>
              <a:t>their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address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space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any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instant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time.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Clr>
                <a:srgbClr val="000099"/>
              </a:buClr>
              <a:buFont typeface="Wingdings"/>
              <a:buChar char=""/>
            </a:pPr>
            <a:endParaRPr sz="2400">
              <a:latin typeface="Arial MT"/>
              <a:cs typeface="Arial MT"/>
            </a:endParaRPr>
          </a:p>
          <a:p>
            <a:pPr marL="356870" indent="-344170">
              <a:lnSpc>
                <a:spcPct val="100000"/>
              </a:lnSpc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b="1" u="sng" dirty="0">
                <a:solidFill>
                  <a:srgbClr val="006600"/>
                </a:solidFill>
                <a:uFill>
                  <a:solidFill>
                    <a:srgbClr val="006600"/>
                  </a:solidFill>
                </a:uFill>
                <a:latin typeface="Arial"/>
                <a:cs typeface="Arial"/>
              </a:rPr>
              <a:t>Temporal</a:t>
            </a:r>
            <a:r>
              <a:rPr sz="2400" b="1" u="sng" spc="-80" dirty="0">
                <a:solidFill>
                  <a:srgbClr val="006600"/>
                </a:solidFill>
                <a:uFill>
                  <a:solidFill>
                    <a:srgbClr val="006600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spc="-10" dirty="0">
                <a:solidFill>
                  <a:srgbClr val="006600"/>
                </a:solidFill>
                <a:uFill>
                  <a:solidFill>
                    <a:srgbClr val="006600"/>
                  </a:solidFill>
                </a:uFill>
                <a:latin typeface="Arial"/>
                <a:cs typeface="Arial"/>
              </a:rPr>
              <a:t>Locality:</a:t>
            </a:r>
            <a:endParaRPr sz="2400">
              <a:latin typeface="Arial"/>
              <a:cs typeface="Arial"/>
            </a:endParaRPr>
          </a:p>
          <a:p>
            <a:pPr marL="356870" marR="704850" indent="-9525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Arial MT"/>
                <a:cs typeface="Arial MT"/>
              </a:rPr>
              <a:t>If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item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referenced,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will</a:t>
            </a:r>
            <a:r>
              <a:rPr sz="2400" spc="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tend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referenced </a:t>
            </a:r>
            <a:r>
              <a:rPr sz="2400" dirty="0">
                <a:latin typeface="Arial MT"/>
                <a:cs typeface="Arial MT"/>
              </a:rPr>
              <a:t>again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soon.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5"/>
              </a:spcBef>
            </a:pPr>
            <a:endParaRPr sz="2400">
              <a:latin typeface="Arial MT"/>
              <a:cs typeface="Arial MT"/>
            </a:endParaRPr>
          </a:p>
          <a:p>
            <a:pPr marL="356870" indent="-344170">
              <a:lnSpc>
                <a:spcPct val="100000"/>
              </a:lnSpc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b="1" u="sng" dirty="0">
                <a:solidFill>
                  <a:srgbClr val="006600"/>
                </a:solidFill>
                <a:uFill>
                  <a:solidFill>
                    <a:srgbClr val="006600"/>
                  </a:solidFill>
                </a:uFill>
                <a:latin typeface="Arial"/>
                <a:cs typeface="Arial"/>
              </a:rPr>
              <a:t>Spatial</a:t>
            </a:r>
            <a:r>
              <a:rPr sz="2400" b="1" u="sng" spc="-90" dirty="0">
                <a:solidFill>
                  <a:srgbClr val="006600"/>
                </a:solidFill>
                <a:uFill>
                  <a:solidFill>
                    <a:srgbClr val="006600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spc="-10" dirty="0">
                <a:solidFill>
                  <a:srgbClr val="006600"/>
                </a:solidFill>
                <a:uFill>
                  <a:solidFill>
                    <a:srgbClr val="006600"/>
                  </a:solidFill>
                </a:uFill>
                <a:latin typeface="Arial"/>
                <a:cs typeface="Arial"/>
              </a:rPr>
              <a:t>Locality:</a:t>
            </a:r>
            <a:endParaRPr sz="2400">
              <a:latin typeface="Arial"/>
              <a:cs typeface="Arial"/>
            </a:endParaRPr>
          </a:p>
          <a:p>
            <a:pPr marL="356870" marR="643890" indent="-9525">
              <a:lnSpc>
                <a:spcPct val="100000"/>
              </a:lnSpc>
              <a:spcBef>
                <a:spcPts val="575"/>
              </a:spcBef>
              <a:tabLst>
                <a:tab pos="1640205" algn="l"/>
              </a:tabLst>
            </a:pPr>
            <a:r>
              <a:rPr sz="2400" dirty="0">
                <a:latin typeface="Arial MT"/>
                <a:cs typeface="Arial MT"/>
              </a:rPr>
              <a:t>If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item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referenced,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items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whose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addresses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are </a:t>
            </a:r>
            <a:r>
              <a:rPr sz="2400" dirty="0">
                <a:latin typeface="Arial MT"/>
                <a:cs typeface="Arial MT"/>
              </a:rPr>
              <a:t>close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by</a:t>
            </a:r>
            <a:r>
              <a:rPr sz="2400" dirty="0">
                <a:latin typeface="Arial MT"/>
                <a:cs typeface="Arial MT"/>
              </a:rPr>
              <a:t>	will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tend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referenced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soon.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7170" rIns="0" bIns="0" rtlCol="0">
            <a:spAutoFit/>
          </a:bodyPr>
          <a:lstStyle/>
          <a:p>
            <a:pPr marL="1865630">
              <a:lnSpc>
                <a:spcPct val="100000"/>
              </a:lnSpc>
              <a:spcBef>
                <a:spcPts val="90"/>
              </a:spcBef>
            </a:pPr>
            <a:r>
              <a:rPr dirty="0"/>
              <a:t>Memory</a:t>
            </a:r>
            <a:r>
              <a:rPr spc="-120" dirty="0"/>
              <a:t> </a:t>
            </a:r>
            <a:r>
              <a:rPr spc="-10" dirty="0"/>
              <a:t>Hierarchy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5925" y="1924050"/>
            <a:ext cx="5781675" cy="40576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812" rIns="0" bIns="0" rtlCol="0">
            <a:spAutoFit/>
          </a:bodyPr>
          <a:lstStyle/>
          <a:p>
            <a:pPr marL="2944495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Cache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35940" y="1624076"/>
            <a:ext cx="756983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marR="5080" indent="-344805">
              <a:lnSpc>
                <a:spcPct val="100000"/>
              </a:lnSpc>
              <a:spcBef>
                <a:spcPts val="100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It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refers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level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memory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hierarchy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between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 </a:t>
            </a:r>
            <a:r>
              <a:rPr sz="2400" dirty="0">
                <a:latin typeface="Arial MT"/>
                <a:cs typeface="Arial MT"/>
              </a:rPr>
              <a:t>processor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main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memory.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09825" y="2809875"/>
            <a:ext cx="4714875" cy="34956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7358" y="485806"/>
            <a:ext cx="46678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Direct</a:t>
            </a:r>
            <a:r>
              <a:rPr sz="3600" spc="-70" dirty="0"/>
              <a:t> </a:t>
            </a:r>
            <a:r>
              <a:rPr sz="3600" dirty="0"/>
              <a:t>Mapped</a:t>
            </a:r>
            <a:r>
              <a:rPr sz="3600" spc="-80" dirty="0"/>
              <a:t> </a:t>
            </a:r>
            <a:r>
              <a:rPr sz="3600" spc="-10" dirty="0"/>
              <a:t>Cache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35940" y="1474723"/>
            <a:ext cx="7924800" cy="485394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56870" marR="631190" indent="-344805">
              <a:lnSpc>
                <a:spcPts val="2300"/>
              </a:lnSpc>
              <a:spcBef>
                <a:spcPts val="660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A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cache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structure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which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each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memory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location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is </a:t>
            </a:r>
            <a:r>
              <a:rPr sz="2400" dirty="0">
                <a:latin typeface="Arial MT"/>
                <a:cs typeface="Arial MT"/>
              </a:rPr>
              <a:t>mapped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exactly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location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cache.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20"/>
              </a:spcBef>
              <a:buClr>
                <a:srgbClr val="000099"/>
              </a:buClr>
              <a:buFont typeface="Wingdings"/>
              <a:buChar char=""/>
            </a:pPr>
            <a:endParaRPr sz="2400">
              <a:latin typeface="Arial MT"/>
              <a:cs typeface="Arial MT"/>
            </a:endParaRPr>
          </a:p>
          <a:p>
            <a:pPr marL="356870" marR="5080" indent="-344805">
              <a:lnSpc>
                <a:spcPct val="80000"/>
              </a:lnSpc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Assign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cache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location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based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address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word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memory.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000099"/>
              </a:buClr>
              <a:buFont typeface="Wingdings"/>
              <a:buChar char=""/>
            </a:pPr>
            <a:endParaRPr sz="2400">
              <a:latin typeface="Arial MT"/>
              <a:cs typeface="Arial MT"/>
            </a:endParaRPr>
          </a:p>
          <a:p>
            <a:pPr marL="356870" indent="-344170">
              <a:lnSpc>
                <a:spcPct val="100000"/>
              </a:lnSpc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b="1" spc="-10" dirty="0">
                <a:solidFill>
                  <a:srgbClr val="006600"/>
                </a:solidFill>
                <a:latin typeface="Arial"/>
                <a:cs typeface="Arial"/>
              </a:rPr>
              <a:t>Mapping:</a:t>
            </a:r>
            <a:endParaRPr sz="2400">
              <a:latin typeface="Arial"/>
              <a:cs typeface="Arial"/>
            </a:endParaRPr>
          </a:p>
          <a:p>
            <a:pPr marL="356870" marR="74295" indent="-9525">
              <a:lnSpc>
                <a:spcPts val="2300"/>
              </a:lnSpc>
              <a:spcBef>
                <a:spcPts val="560"/>
              </a:spcBef>
            </a:pPr>
            <a:r>
              <a:rPr sz="2400" dirty="0">
                <a:latin typeface="Arial MT"/>
                <a:cs typeface="Arial MT"/>
              </a:rPr>
              <a:t>(Block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address)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modulo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(Number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cache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blocks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 </a:t>
            </a:r>
            <a:r>
              <a:rPr sz="2400" spc="-10" dirty="0">
                <a:latin typeface="Arial MT"/>
                <a:cs typeface="Arial MT"/>
              </a:rPr>
              <a:t>cache).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2400">
              <a:latin typeface="Arial MT"/>
              <a:cs typeface="Arial MT"/>
            </a:endParaRPr>
          </a:p>
          <a:p>
            <a:pPr marL="356870" indent="-344170">
              <a:lnSpc>
                <a:spcPct val="100000"/>
              </a:lnSpc>
              <a:spcBef>
                <a:spcPts val="5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accessed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directly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lower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order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bits.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95"/>
              </a:spcBef>
              <a:buClr>
                <a:srgbClr val="000099"/>
              </a:buClr>
              <a:buFont typeface="Wingdings"/>
              <a:buChar char=""/>
            </a:pPr>
            <a:endParaRPr sz="2400">
              <a:latin typeface="Arial MT"/>
              <a:cs typeface="Arial MT"/>
            </a:endParaRPr>
          </a:p>
          <a:p>
            <a:pPr marL="356870" marR="852169" indent="-344805">
              <a:lnSpc>
                <a:spcPct val="80000"/>
              </a:lnSpc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Each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cache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location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contain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contents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0" dirty="0">
                <a:latin typeface="Arial MT"/>
                <a:cs typeface="Arial MT"/>
              </a:rPr>
              <a:t> a </a:t>
            </a:r>
            <a:r>
              <a:rPr sz="2400" dirty="0">
                <a:latin typeface="Arial MT"/>
                <a:cs typeface="Arial MT"/>
              </a:rPr>
              <a:t>number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different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memory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locations.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4912" rIns="0" bIns="0" rtlCol="0">
            <a:spAutoFit/>
          </a:bodyPr>
          <a:lstStyle/>
          <a:p>
            <a:pPr marL="1078865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A</a:t>
            </a:r>
            <a:r>
              <a:rPr sz="3600" spc="-80" dirty="0"/>
              <a:t> </a:t>
            </a:r>
            <a:r>
              <a:rPr sz="3600" dirty="0"/>
              <a:t>Direct</a:t>
            </a:r>
            <a:r>
              <a:rPr sz="3600" spc="-30" dirty="0"/>
              <a:t> </a:t>
            </a:r>
            <a:r>
              <a:rPr sz="3600" dirty="0"/>
              <a:t>Mapped</a:t>
            </a:r>
            <a:r>
              <a:rPr sz="3600" spc="-65" dirty="0"/>
              <a:t> </a:t>
            </a:r>
            <a:r>
              <a:rPr sz="3600" spc="-10" dirty="0"/>
              <a:t>Cache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2075" y="1685925"/>
            <a:ext cx="6610350" cy="49149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7312" rIns="0" bIns="0" rtlCol="0">
            <a:spAutoFit/>
          </a:bodyPr>
          <a:lstStyle/>
          <a:p>
            <a:pPr marL="1777364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Tag</a:t>
            </a:r>
            <a:r>
              <a:rPr sz="3600" spc="-80" dirty="0"/>
              <a:t> </a:t>
            </a:r>
            <a:r>
              <a:rPr sz="3600" dirty="0"/>
              <a:t>and</a:t>
            </a:r>
            <a:r>
              <a:rPr sz="3600" spc="-30" dirty="0"/>
              <a:t> </a:t>
            </a:r>
            <a:r>
              <a:rPr sz="3600" dirty="0"/>
              <a:t>Valid</a:t>
            </a:r>
            <a:r>
              <a:rPr sz="3600" spc="-55" dirty="0"/>
              <a:t> </a:t>
            </a:r>
            <a:r>
              <a:rPr sz="3600" spc="-25" dirty="0"/>
              <a:t>Bit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612140" y="2070163"/>
            <a:ext cx="7847330" cy="2366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marR="5080" indent="-344805">
              <a:lnSpc>
                <a:spcPct val="100000"/>
              </a:lnSpc>
              <a:spcBef>
                <a:spcPts val="100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A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field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contains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address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information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required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to </a:t>
            </a:r>
            <a:r>
              <a:rPr sz="2400" dirty="0">
                <a:latin typeface="Arial MT"/>
                <a:cs typeface="Arial MT"/>
              </a:rPr>
              <a:t>identify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whether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word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cache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corresponds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 </a:t>
            </a:r>
            <a:r>
              <a:rPr sz="2400" dirty="0">
                <a:latin typeface="Arial MT"/>
                <a:cs typeface="Arial MT"/>
              </a:rPr>
              <a:t>requested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word.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Clr>
                <a:srgbClr val="000099"/>
              </a:buClr>
              <a:buFont typeface="Wingdings"/>
              <a:buChar char=""/>
            </a:pPr>
            <a:endParaRPr sz="2400">
              <a:latin typeface="Arial MT"/>
              <a:cs typeface="Arial MT"/>
            </a:endParaRPr>
          </a:p>
          <a:p>
            <a:pPr marL="356870" marR="658495" indent="-344805">
              <a:lnSpc>
                <a:spcPct val="100000"/>
              </a:lnSpc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It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indicates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associated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block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contains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valid data.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7312" rIns="0" bIns="0" rtlCol="0">
            <a:spAutoFit/>
          </a:bodyPr>
          <a:lstStyle/>
          <a:p>
            <a:pPr marL="1511935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Accessing</a:t>
            </a:r>
            <a:r>
              <a:rPr sz="3600" spc="-45" dirty="0"/>
              <a:t> </a:t>
            </a:r>
            <a:r>
              <a:rPr sz="3600" dirty="0"/>
              <a:t>A</a:t>
            </a:r>
            <a:r>
              <a:rPr sz="3600" spc="-114" dirty="0"/>
              <a:t> </a:t>
            </a:r>
            <a:r>
              <a:rPr sz="3600" spc="-10" dirty="0"/>
              <a:t>Cache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8574" y="1957058"/>
            <a:ext cx="8563700" cy="296406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11935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Accessing</a:t>
            </a:r>
            <a:r>
              <a:rPr sz="3600" spc="-45" dirty="0"/>
              <a:t> </a:t>
            </a:r>
            <a:r>
              <a:rPr sz="3600" dirty="0"/>
              <a:t>A</a:t>
            </a:r>
            <a:r>
              <a:rPr sz="3600" spc="-114" dirty="0"/>
              <a:t> </a:t>
            </a:r>
            <a:r>
              <a:rPr sz="3600" spc="-10" dirty="0"/>
              <a:t>Cache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4151" y="1357428"/>
            <a:ext cx="3888912" cy="542970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80334" y="1358312"/>
            <a:ext cx="3888013" cy="542883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812" rIns="0" bIns="0" rtlCol="0">
            <a:spAutoFit/>
          </a:bodyPr>
          <a:lstStyle/>
          <a:p>
            <a:pPr marL="1511935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Accessing</a:t>
            </a:r>
            <a:r>
              <a:rPr sz="3600" spc="-45" dirty="0"/>
              <a:t> </a:t>
            </a:r>
            <a:r>
              <a:rPr sz="3600" dirty="0"/>
              <a:t>A</a:t>
            </a:r>
            <a:r>
              <a:rPr sz="3600" spc="-114" dirty="0"/>
              <a:t> </a:t>
            </a:r>
            <a:r>
              <a:rPr sz="3600" spc="-10" dirty="0"/>
              <a:t>Cache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5275" y="1990725"/>
            <a:ext cx="4181475" cy="27813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10125" y="1981200"/>
            <a:ext cx="4181475" cy="27813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15566" y="462788"/>
            <a:ext cx="59124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Referencing</a:t>
            </a:r>
            <a:r>
              <a:rPr sz="3600" spc="-75" dirty="0"/>
              <a:t> </a:t>
            </a:r>
            <a:r>
              <a:rPr sz="3600" dirty="0"/>
              <a:t>a</a:t>
            </a:r>
            <a:r>
              <a:rPr sz="3600" spc="-70" dirty="0"/>
              <a:t> </a:t>
            </a:r>
            <a:r>
              <a:rPr sz="3600" dirty="0"/>
              <a:t>Cache</a:t>
            </a:r>
            <a:r>
              <a:rPr sz="3600" spc="-50" dirty="0"/>
              <a:t> </a:t>
            </a:r>
            <a:r>
              <a:rPr sz="3600" spc="-10" dirty="0"/>
              <a:t>Block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30834" y="1340467"/>
            <a:ext cx="5476277" cy="537690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7312" rIns="0" bIns="0" rtlCol="0">
            <a:spAutoFit/>
          </a:bodyPr>
          <a:lstStyle/>
          <a:p>
            <a:pPr marL="242316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Cache</a:t>
            </a:r>
            <a:r>
              <a:rPr sz="3600" spc="-70" dirty="0"/>
              <a:t> </a:t>
            </a:r>
            <a:r>
              <a:rPr sz="3600" spc="-20" dirty="0"/>
              <a:t>Size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97840" y="2005076"/>
            <a:ext cx="8035290" cy="2512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4970" marR="17780" indent="-344805">
              <a:lnSpc>
                <a:spcPct val="100000"/>
              </a:lnSpc>
              <a:spcBef>
                <a:spcPts val="100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394970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total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number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bits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needed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cache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function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cache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size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address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size.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Clr>
                <a:srgbClr val="000099"/>
              </a:buClr>
              <a:buFont typeface="Wingdings"/>
              <a:buChar char=""/>
            </a:pPr>
            <a:endParaRPr sz="2400">
              <a:latin typeface="Arial MT"/>
              <a:cs typeface="Arial MT"/>
            </a:endParaRPr>
          </a:p>
          <a:p>
            <a:pPr marL="394970" indent="-344170">
              <a:lnSpc>
                <a:spcPct val="100000"/>
              </a:lnSpc>
              <a:buClr>
                <a:srgbClr val="000099"/>
              </a:buClr>
              <a:buSzPct val="125000"/>
              <a:buFont typeface="Wingdings"/>
              <a:buChar char=""/>
              <a:tabLst>
                <a:tab pos="394970" algn="l"/>
              </a:tabLst>
            </a:pPr>
            <a:r>
              <a:rPr sz="2400" dirty="0">
                <a:latin typeface="Arial MT"/>
                <a:cs typeface="Arial MT"/>
              </a:rPr>
              <a:t>Let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address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32</a:t>
            </a:r>
            <a:r>
              <a:rPr sz="2400" spc="-20" dirty="0">
                <a:latin typeface="Arial MT"/>
                <a:cs typeface="Arial MT"/>
              </a:rPr>
              <a:t> bits</a:t>
            </a:r>
            <a:endParaRPr sz="2400">
              <a:latin typeface="Arial MT"/>
              <a:cs typeface="Arial MT"/>
            </a:endParaRPr>
          </a:p>
          <a:p>
            <a:pPr marL="394970" marR="2515235">
              <a:lnSpc>
                <a:spcPct val="120000"/>
              </a:lnSpc>
            </a:pPr>
            <a:r>
              <a:rPr sz="2400" dirty="0">
                <a:latin typeface="Arial MT"/>
                <a:cs typeface="Arial MT"/>
              </a:rPr>
              <a:t>Cache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size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</a:t>
            </a:r>
            <a:r>
              <a:rPr sz="2400" baseline="24305" dirty="0">
                <a:latin typeface="Arial MT"/>
                <a:cs typeface="Arial MT"/>
              </a:rPr>
              <a:t>n</a:t>
            </a:r>
            <a:r>
              <a:rPr sz="2400" spc="240" baseline="243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blocks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</a:t>
            </a:r>
            <a:r>
              <a:rPr sz="2400" baseline="24305" dirty="0">
                <a:latin typeface="Arial MT"/>
                <a:cs typeface="Arial MT"/>
              </a:rPr>
              <a:t>m</a:t>
            </a:r>
            <a:r>
              <a:rPr sz="2400" spc="247" baseline="2430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words. </a:t>
            </a:r>
            <a:r>
              <a:rPr sz="2400" dirty="0">
                <a:latin typeface="Arial MT"/>
                <a:cs typeface="Arial MT"/>
              </a:rPr>
              <a:t>Tag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size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32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–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(n+m+2)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23158" y="371506"/>
            <a:ext cx="32962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Bits</a:t>
            </a:r>
            <a:r>
              <a:rPr sz="3600" spc="-50" dirty="0"/>
              <a:t> </a:t>
            </a:r>
            <a:r>
              <a:rPr sz="3600" dirty="0"/>
              <a:t>in</a:t>
            </a:r>
            <a:r>
              <a:rPr sz="3600" spc="-30" dirty="0"/>
              <a:t> </a:t>
            </a:r>
            <a:r>
              <a:rPr sz="3600" dirty="0"/>
              <a:t>a</a:t>
            </a:r>
            <a:r>
              <a:rPr sz="3600" spc="-25" dirty="0"/>
              <a:t> </a:t>
            </a:r>
            <a:r>
              <a:rPr sz="3600" spc="-20" dirty="0"/>
              <a:t>Cache</a:t>
            </a:r>
            <a:endParaRPr sz="36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400685" marR="262255" indent="-344805">
              <a:lnSpc>
                <a:spcPts val="2590"/>
              </a:lnSpc>
              <a:spcBef>
                <a:spcPts val="425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400685" algn="l"/>
              </a:tabLst>
            </a:pPr>
            <a:r>
              <a:rPr dirty="0"/>
              <a:t>How</a:t>
            </a:r>
            <a:r>
              <a:rPr spc="-55" dirty="0"/>
              <a:t> </a:t>
            </a:r>
            <a:r>
              <a:rPr dirty="0"/>
              <a:t>many</a:t>
            </a:r>
            <a:r>
              <a:rPr spc="-50" dirty="0"/>
              <a:t> </a:t>
            </a:r>
            <a:r>
              <a:rPr dirty="0"/>
              <a:t>total</a:t>
            </a:r>
            <a:r>
              <a:rPr spc="-80" dirty="0"/>
              <a:t> </a:t>
            </a:r>
            <a:r>
              <a:rPr dirty="0"/>
              <a:t>bits</a:t>
            </a:r>
            <a:r>
              <a:rPr spc="-25" dirty="0"/>
              <a:t> </a:t>
            </a:r>
            <a:r>
              <a:rPr dirty="0"/>
              <a:t>are</a:t>
            </a:r>
            <a:r>
              <a:rPr spc="-40" dirty="0"/>
              <a:t> </a:t>
            </a:r>
            <a:r>
              <a:rPr dirty="0"/>
              <a:t>required</a:t>
            </a:r>
            <a:r>
              <a:rPr spc="-20" dirty="0"/>
              <a:t> </a:t>
            </a:r>
            <a:r>
              <a:rPr dirty="0"/>
              <a:t>for</a:t>
            </a:r>
            <a:r>
              <a:rPr spc="-60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spc="-10" dirty="0"/>
              <a:t>direct-mapped </a:t>
            </a:r>
            <a:r>
              <a:rPr dirty="0"/>
              <a:t>cache</a:t>
            </a:r>
            <a:r>
              <a:rPr spc="-70" dirty="0"/>
              <a:t> </a:t>
            </a:r>
            <a:r>
              <a:rPr dirty="0"/>
              <a:t>with</a:t>
            </a:r>
            <a:r>
              <a:rPr spc="-5" dirty="0"/>
              <a:t> </a:t>
            </a:r>
            <a:r>
              <a:rPr dirty="0"/>
              <a:t>16</a:t>
            </a:r>
            <a:r>
              <a:rPr spc="-45" dirty="0"/>
              <a:t> </a:t>
            </a:r>
            <a:r>
              <a:rPr dirty="0"/>
              <a:t>KB</a:t>
            </a:r>
            <a:r>
              <a:rPr spc="-50" dirty="0"/>
              <a:t> </a:t>
            </a:r>
            <a:r>
              <a:rPr dirty="0"/>
              <a:t>of</a:t>
            </a:r>
            <a:r>
              <a:rPr spc="-75" dirty="0"/>
              <a:t> </a:t>
            </a:r>
            <a:r>
              <a:rPr dirty="0"/>
              <a:t>data</a:t>
            </a:r>
            <a:r>
              <a:rPr spc="-45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dirty="0"/>
              <a:t>4</a:t>
            </a:r>
            <a:r>
              <a:rPr spc="-45" dirty="0"/>
              <a:t> </a:t>
            </a:r>
            <a:r>
              <a:rPr dirty="0"/>
              <a:t>word blocks,</a:t>
            </a:r>
            <a:r>
              <a:rPr spc="-80" dirty="0"/>
              <a:t> </a:t>
            </a:r>
            <a:r>
              <a:rPr dirty="0"/>
              <a:t>assuming</a:t>
            </a:r>
            <a:r>
              <a:rPr spc="-70" dirty="0"/>
              <a:t> </a:t>
            </a:r>
            <a:r>
              <a:rPr spc="-50" dirty="0"/>
              <a:t>a </a:t>
            </a:r>
            <a:r>
              <a:rPr dirty="0"/>
              <a:t>32</a:t>
            </a:r>
            <a:r>
              <a:rPr spc="-60" dirty="0"/>
              <a:t> </a:t>
            </a:r>
            <a:r>
              <a:rPr dirty="0"/>
              <a:t>bit</a:t>
            </a:r>
            <a:r>
              <a:rPr spc="-40" dirty="0"/>
              <a:t> </a:t>
            </a:r>
            <a:r>
              <a:rPr spc="-10" dirty="0"/>
              <a:t>address?</a:t>
            </a:r>
          </a:p>
          <a:p>
            <a:pPr marL="31115">
              <a:lnSpc>
                <a:spcPct val="100000"/>
              </a:lnSpc>
              <a:spcBef>
                <a:spcPts val="375"/>
              </a:spcBef>
            </a:pPr>
            <a:endParaRPr spc="-10" dirty="0"/>
          </a:p>
          <a:p>
            <a:pPr marL="391795" marR="2124710">
              <a:lnSpc>
                <a:spcPct val="110000"/>
              </a:lnSpc>
            </a:pPr>
            <a:r>
              <a:rPr dirty="0"/>
              <a:t>Data</a:t>
            </a:r>
            <a:r>
              <a:rPr spc="-60" dirty="0"/>
              <a:t> </a:t>
            </a:r>
            <a:r>
              <a:rPr dirty="0"/>
              <a:t>size</a:t>
            </a:r>
            <a:r>
              <a:rPr spc="10" dirty="0"/>
              <a:t> </a:t>
            </a:r>
            <a:r>
              <a:rPr dirty="0"/>
              <a:t>=</a:t>
            </a:r>
            <a:r>
              <a:rPr spc="-30" dirty="0"/>
              <a:t> </a:t>
            </a:r>
            <a:r>
              <a:rPr dirty="0"/>
              <a:t>16</a:t>
            </a:r>
            <a:r>
              <a:rPr spc="-35" dirty="0"/>
              <a:t> </a:t>
            </a:r>
            <a:r>
              <a:rPr dirty="0"/>
              <a:t>KB</a:t>
            </a:r>
            <a:r>
              <a:rPr spc="-35" dirty="0"/>
              <a:t> </a:t>
            </a:r>
            <a:r>
              <a:rPr dirty="0"/>
              <a:t>=</a:t>
            </a:r>
            <a:r>
              <a:rPr spc="-30" dirty="0"/>
              <a:t> </a:t>
            </a:r>
            <a:r>
              <a:rPr dirty="0"/>
              <a:t>4K</a:t>
            </a:r>
            <a:r>
              <a:rPr spc="-40" dirty="0"/>
              <a:t> </a:t>
            </a:r>
            <a:r>
              <a:rPr dirty="0"/>
              <a:t>words =</a:t>
            </a:r>
            <a:r>
              <a:rPr spc="-30" dirty="0"/>
              <a:t> </a:t>
            </a:r>
            <a:r>
              <a:rPr dirty="0"/>
              <a:t>2</a:t>
            </a:r>
            <a:r>
              <a:rPr sz="2400" baseline="24305" dirty="0"/>
              <a:t>12</a:t>
            </a:r>
            <a:r>
              <a:rPr sz="2400" spc="254" baseline="24305" dirty="0"/>
              <a:t> </a:t>
            </a:r>
            <a:r>
              <a:rPr sz="2400" spc="-10" dirty="0"/>
              <a:t>words. </a:t>
            </a:r>
            <a:r>
              <a:rPr sz="2400" dirty="0"/>
              <a:t>Block</a:t>
            </a:r>
            <a:r>
              <a:rPr sz="2400" spc="-75" dirty="0"/>
              <a:t> </a:t>
            </a:r>
            <a:r>
              <a:rPr sz="2400" dirty="0"/>
              <a:t>size</a:t>
            </a:r>
            <a:r>
              <a:rPr sz="2400" spc="-5" dirty="0"/>
              <a:t> </a:t>
            </a:r>
            <a:r>
              <a:rPr sz="2400" dirty="0"/>
              <a:t>=</a:t>
            </a:r>
            <a:r>
              <a:rPr sz="2400" spc="-70" dirty="0"/>
              <a:t> </a:t>
            </a:r>
            <a:r>
              <a:rPr sz="2400" dirty="0"/>
              <a:t>4</a:t>
            </a:r>
            <a:r>
              <a:rPr sz="2400" spc="-35" dirty="0"/>
              <a:t> </a:t>
            </a:r>
            <a:r>
              <a:rPr sz="2400" dirty="0"/>
              <a:t>words</a:t>
            </a:r>
            <a:r>
              <a:rPr sz="2400" spc="-20" dirty="0"/>
              <a:t> (2</a:t>
            </a:r>
            <a:r>
              <a:rPr sz="2400" spc="-30" baseline="24305" dirty="0"/>
              <a:t>2</a:t>
            </a:r>
            <a:r>
              <a:rPr sz="2400" spc="-20" dirty="0"/>
              <a:t>).</a:t>
            </a:r>
            <a:endParaRPr sz="2400"/>
          </a:p>
          <a:p>
            <a:pPr marL="394335" marR="3837940" indent="-3175">
              <a:lnSpc>
                <a:spcPct val="110000"/>
              </a:lnSpc>
            </a:pPr>
            <a:r>
              <a:rPr dirty="0"/>
              <a:t>Cache</a:t>
            </a:r>
            <a:r>
              <a:rPr spc="-45" dirty="0"/>
              <a:t> </a:t>
            </a:r>
            <a:r>
              <a:rPr dirty="0"/>
              <a:t>Entries</a:t>
            </a:r>
            <a:r>
              <a:rPr spc="-55" dirty="0"/>
              <a:t> </a:t>
            </a:r>
            <a:r>
              <a:rPr dirty="0"/>
              <a:t>=</a:t>
            </a:r>
            <a:r>
              <a:rPr spc="-35" dirty="0"/>
              <a:t> </a:t>
            </a:r>
            <a:r>
              <a:rPr dirty="0"/>
              <a:t>2</a:t>
            </a:r>
            <a:r>
              <a:rPr sz="2400" baseline="24305" dirty="0"/>
              <a:t>10</a:t>
            </a:r>
            <a:r>
              <a:rPr sz="2400" spc="-67" baseline="24305" dirty="0"/>
              <a:t> </a:t>
            </a:r>
            <a:r>
              <a:rPr sz="2400" spc="-10" dirty="0"/>
              <a:t>blocks </a:t>
            </a:r>
            <a:r>
              <a:rPr sz="2400" dirty="0"/>
              <a:t>Block</a:t>
            </a:r>
            <a:r>
              <a:rPr sz="2400" spc="-15" dirty="0"/>
              <a:t> </a:t>
            </a:r>
            <a:r>
              <a:rPr sz="2400" dirty="0"/>
              <a:t>size</a:t>
            </a:r>
            <a:r>
              <a:rPr sz="2400" spc="-10" dirty="0"/>
              <a:t> </a:t>
            </a:r>
            <a:r>
              <a:rPr sz="2400" dirty="0"/>
              <a:t>=</a:t>
            </a:r>
            <a:r>
              <a:rPr sz="2400" spc="-25" dirty="0"/>
              <a:t> </a:t>
            </a:r>
            <a:r>
              <a:rPr sz="2400" dirty="0"/>
              <a:t>4</a:t>
            </a:r>
            <a:r>
              <a:rPr sz="2400" spc="-30" dirty="0"/>
              <a:t> </a:t>
            </a:r>
            <a:r>
              <a:rPr sz="2400" dirty="0">
                <a:latin typeface="Times New Roman"/>
                <a:cs typeface="Times New Roman"/>
              </a:rPr>
              <a:t>×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/>
              <a:t>32</a:t>
            </a:r>
            <a:r>
              <a:rPr sz="2400" spc="-30" dirty="0"/>
              <a:t> </a:t>
            </a:r>
            <a:r>
              <a:rPr sz="2400" dirty="0"/>
              <a:t>=</a:t>
            </a:r>
            <a:r>
              <a:rPr sz="2400" spc="-25" dirty="0"/>
              <a:t> </a:t>
            </a:r>
            <a:r>
              <a:rPr sz="2400" dirty="0"/>
              <a:t>128</a:t>
            </a:r>
            <a:r>
              <a:rPr sz="2400" spc="-25" dirty="0"/>
              <a:t> </a:t>
            </a:r>
            <a:r>
              <a:rPr sz="2400" spc="-10" dirty="0"/>
              <a:t>bits.</a:t>
            </a:r>
            <a:endParaRPr sz="2400">
              <a:latin typeface="Times New Roman"/>
              <a:cs typeface="Times New Roman"/>
            </a:endParaRPr>
          </a:p>
          <a:p>
            <a:pPr marL="391160">
              <a:lnSpc>
                <a:spcPct val="100000"/>
              </a:lnSpc>
              <a:spcBef>
                <a:spcPts val="290"/>
              </a:spcBef>
            </a:pPr>
            <a:r>
              <a:rPr dirty="0"/>
              <a:t>Tag</a:t>
            </a:r>
            <a:r>
              <a:rPr spc="-55" dirty="0"/>
              <a:t> </a:t>
            </a:r>
            <a:r>
              <a:rPr dirty="0"/>
              <a:t>= </a:t>
            </a:r>
            <a:r>
              <a:rPr spc="-20" dirty="0"/>
              <a:t>32-10-2-</a:t>
            </a:r>
            <a:r>
              <a:rPr dirty="0"/>
              <a:t>2</a:t>
            </a:r>
            <a:r>
              <a:rPr spc="-5" dirty="0"/>
              <a:t> </a:t>
            </a:r>
            <a:r>
              <a:rPr dirty="0"/>
              <a:t>= 18</a:t>
            </a:r>
            <a:r>
              <a:rPr spc="-5" dirty="0"/>
              <a:t> </a:t>
            </a:r>
            <a:r>
              <a:rPr spc="-10" dirty="0"/>
              <a:t>bits.</a:t>
            </a:r>
          </a:p>
          <a:p>
            <a:pPr marL="391160">
              <a:lnSpc>
                <a:spcPct val="100000"/>
              </a:lnSpc>
              <a:spcBef>
                <a:spcPts val="285"/>
              </a:spcBef>
            </a:pPr>
            <a:r>
              <a:rPr dirty="0"/>
              <a:t>Valid</a:t>
            </a:r>
            <a:r>
              <a:rPr spc="-35" dirty="0"/>
              <a:t> </a:t>
            </a:r>
            <a:r>
              <a:rPr dirty="0"/>
              <a:t>bit</a:t>
            </a:r>
            <a:r>
              <a:rPr spc="-35" dirty="0"/>
              <a:t> </a:t>
            </a:r>
            <a:r>
              <a:rPr dirty="0"/>
              <a:t>=</a:t>
            </a:r>
            <a:r>
              <a:rPr spc="-25" dirty="0"/>
              <a:t> </a:t>
            </a:r>
            <a:r>
              <a:rPr dirty="0"/>
              <a:t>1</a:t>
            </a:r>
            <a:r>
              <a:rPr spc="-10" dirty="0"/>
              <a:t> </a:t>
            </a:r>
            <a:r>
              <a:rPr spc="-25" dirty="0"/>
              <a:t>bit</a:t>
            </a:r>
          </a:p>
          <a:p>
            <a:pPr marL="391160">
              <a:lnSpc>
                <a:spcPct val="100000"/>
              </a:lnSpc>
              <a:spcBef>
                <a:spcPts val="290"/>
              </a:spcBef>
            </a:pPr>
            <a:r>
              <a:rPr dirty="0"/>
              <a:t>Total</a:t>
            </a:r>
            <a:r>
              <a:rPr spc="-40" dirty="0"/>
              <a:t> </a:t>
            </a:r>
            <a:r>
              <a:rPr dirty="0"/>
              <a:t>Cache</a:t>
            </a:r>
            <a:r>
              <a:rPr spc="-30" dirty="0"/>
              <a:t> </a:t>
            </a:r>
            <a:r>
              <a:rPr dirty="0"/>
              <a:t>size</a:t>
            </a:r>
            <a:r>
              <a:rPr spc="-30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dirty="0"/>
              <a:t>2</a:t>
            </a:r>
            <a:r>
              <a:rPr sz="2400" baseline="24305" dirty="0"/>
              <a:t>10</a:t>
            </a:r>
            <a:r>
              <a:rPr sz="2400" spc="-67" baseline="24305" dirty="0"/>
              <a:t> </a:t>
            </a:r>
            <a:r>
              <a:rPr sz="2400" dirty="0">
                <a:latin typeface="Times New Roman"/>
                <a:cs typeface="Times New Roman"/>
              </a:rPr>
              <a:t>×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dirty="0"/>
              <a:t>(128+18+1)</a:t>
            </a:r>
            <a:r>
              <a:rPr sz="2400" spc="-40" dirty="0"/>
              <a:t> </a:t>
            </a:r>
            <a:r>
              <a:rPr sz="2400" dirty="0"/>
              <a:t>=</a:t>
            </a:r>
            <a:r>
              <a:rPr sz="2400" spc="-70" dirty="0"/>
              <a:t> </a:t>
            </a:r>
            <a:r>
              <a:rPr sz="2400" dirty="0"/>
              <a:t>147Kbits</a:t>
            </a:r>
            <a:r>
              <a:rPr sz="2400" spc="-35" dirty="0"/>
              <a:t> </a:t>
            </a:r>
            <a:r>
              <a:rPr sz="2400" dirty="0"/>
              <a:t>=</a:t>
            </a:r>
            <a:r>
              <a:rPr sz="2400" spc="-65" dirty="0"/>
              <a:t> </a:t>
            </a:r>
            <a:r>
              <a:rPr sz="2400" dirty="0"/>
              <a:t>18.4</a:t>
            </a:r>
            <a:r>
              <a:rPr sz="2400" spc="-30" dirty="0"/>
              <a:t> </a:t>
            </a:r>
            <a:r>
              <a:rPr sz="2400" spc="-25" dirty="0"/>
              <a:t>KB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60575" y="371506"/>
            <a:ext cx="50228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Effect</a:t>
            </a:r>
            <a:r>
              <a:rPr sz="3600" spc="-75" dirty="0"/>
              <a:t> </a:t>
            </a:r>
            <a:r>
              <a:rPr sz="3600" dirty="0"/>
              <a:t>of</a:t>
            </a:r>
            <a:r>
              <a:rPr sz="3600" spc="-45" dirty="0"/>
              <a:t> </a:t>
            </a:r>
            <a:r>
              <a:rPr sz="3600" dirty="0"/>
              <a:t>Larger</a:t>
            </a:r>
            <a:r>
              <a:rPr sz="3600" spc="-55" dirty="0"/>
              <a:t> </a:t>
            </a:r>
            <a:r>
              <a:rPr sz="3600" spc="-10" dirty="0"/>
              <a:t>Blocks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35940" y="1322323"/>
            <a:ext cx="8045450" cy="421068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56870" marR="593725" indent="-344805">
              <a:lnSpc>
                <a:spcPts val="2300"/>
              </a:lnSpc>
              <a:spcBef>
                <a:spcPts val="660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Increasing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block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size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usually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decreases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miss </a:t>
            </a:r>
            <a:r>
              <a:rPr sz="2400" spc="-10" dirty="0">
                <a:latin typeface="Arial MT"/>
                <a:cs typeface="Arial MT"/>
              </a:rPr>
              <a:t>rate.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20"/>
              </a:spcBef>
              <a:buClr>
                <a:srgbClr val="000099"/>
              </a:buClr>
              <a:buFont typeface="Wingdings"/>
              <a:buChar char=""/>
            </a:pPr>
            <a:endParaRPr sz="2400">
              <a:latin typeface="Arial MT"/>
              <a:cs typeface="Arial MT"/>
            </a:endParaRPr>
          </a:p>
          <a:p>
            <a:pPr marL="356870" marR="5080" indent="-344805">
              <a:lnSpc>
                <a:spcPct val="80000"/>
              </a:lnSpc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But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miss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rate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increases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if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block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size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becomes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too </a:t>
            </a:r>
            <a:r>
              <a:rPr sz="2400" spc="-10" dirty="0">
                <a:latin typeface="Arial MT"/>
                <a:cs typeface="Arial MT"/>
              </a:rPr>
              <a:t>large.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000099"/>
              </a:buClr>
              <a:buFont typeface="Wingdings"/>
              <a:buChar char=""/>
            </a:pPr>
            <a:endParaRPr sz="2400">
              <a:latin typeface="Arial MT"/>
              <a:cs typeface="Arial MT"/>
            </a:endParaRPr>
          </a:p>
          <a:p>
            <a:pPr marL="690245" lvl="1" indent="-333375">
              <a:lnSpc>
                <a:spcPct val="100000"/>
              </a:lnSpc>
              <a:buClr>
                <a:srgbClr val="000099"/>
              </a:buClr>
              <a:buAutoNum type="arabicPeriod"/>
              <a:tabLst>
                <a:tab pos="690245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number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blocks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cache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will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small.</a:t>
            </a:r>
            <a:endParaRPr sz="24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695"/>
              </a:spcBef>
              <a:buClr>
                <a:srgbClr val="000099"/>
              </a:buClr>
              <a:buFont typeface="Arial MT"/>
              <a:buAutoNum type="arabicPeriod"/>
            </a:pPr>
            <a:endParaRPr sz="2400">
              <a:latin typeface="Arial MT"/>
              <a:cs typeface="Arial MT"/>
            </a:endParaRPr>
          </a:p>
          <a:p>
            <a:pPr marL="356870" marR="186055" lvl="1" indent="333375">
              <a:lnSpc>
                <a:spcPct val="80000"/>
              </a:lnSpc>
              <a:buClr>
                <a:srgbClr val="000099"/>
              </a:buClr>
              <a:buAutoNum type="arabicPeriod"/>
              <a:tabLst>
                <a:tab pos="690245" algn="l"/>
              </a:tabLst>
            </a:pPr>
            <a:r>
              <a:rPr sz="2400" dirty="0">
                <a:latin typeface="Arial MT"/>
                <a:cs typeface="Arial MT"/>
              </a:rPr>
              <a:t>A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block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will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bumped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out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cache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before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many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it’s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words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accessed.</a:t>
            </a:r>
            <a:endParaRPr sz="24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120"/>
              </a:spcBef>
              <a:buClr>
                <a:srgbClr val="000099"/>
              </a:buClr>
              <a:buFont typeface="Arial MT"/>
              <a:buAutoNum type="arabicPeriod"/>
            </a:pPr>
            <a:endParaRPr sz="2400">
              <a:latin typeface="Arial MT"/>
              <a:cs typeface="Arial MT"/>
            </a:endParaRPr>
          </a:p>
          <a:p>
            <a:pPr marL="356870" indent="-344170">
              <a:lnSpc>
                <a:spcPct val="100000"/>
              </a:lnSpc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Increasing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block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size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will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increase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cost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miss.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078480" marR="5080" indent="-3066415">
              <a:lnSpc>
                <a:spcPct val="100000"/>
              </a:lnSpc>
              <a:spcBef>
                <a:spcPts val="90"/>
              </a:spcBef>
            </a:pPr>
            <a:r>
              <a:rPr dirty="0"/>
              <a:t>Improving</a:t>
            </a:r>
            <a:r>
              <a:rPr spc="10" dirty="0"/>
              <a:t> </a:t>
            </a:r>
            <a:r>
              <a:rPr dirty="0"/>
              <a:t>Miss</a:t>
            </a:r>
            <a:r>
              <a:rPr spc="-75" dirty="0"/>
              <a:t> </a:t>
            </a:r>
            <a:r>
              <a:rPr dirty="0"/>
              <a:t>Penalty</a:t>
            </a:r>
            <a:r>
              <a:rPr spc="-70" dirty="0"/>
              <a:t> </a:t>
            </a:r>
            <a:r>
              <a:rPr dirty="0"/>
              <a:t>due</a:t>
            </a:r>
            <a:r>
              <a:rPr spc="-70" dirty="0"/>
              <a:t> </a:t>
            </a:r>
            <a:r>
              <a:rPr dirty="0"/>
              <a:t>to</a:t>
            </a:r>
            <a:r>
              <a:rPr spc="-55" dirty="0"/>
              <a:t> </a:t>
            </a:r>
            <a:r>
              <a:rPr spc="-10" dirty="0"/>
              <a:t>Larger Block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73161"/>
            <a:ext cx="8014970" cy="295148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675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Early</a:t>
            </a:r>
            <a:r>
              <a:rPr sz="2400" b="1" spc="-8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06600"/>
                </a:solidFill>
                <a:latin typeface="Arial"/>
                <a:cs typeface="Arial"/>
              </a:rPr>
              <a:t>Restart:</a:t>
            </a:r>
            <a:endParaRPr sz="2400">
              <a:latin typeface="Arial"/>
              <a:cs typeface="Arial"/>
            </a:endParaRPr>
          </a:p>
          <a:p>
            <a:pPr marL="356870" marR="7620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Arial MT"/>
                <a:cs typeface="Arial MT"/>
              </a:rPr>
              <a:t>Restart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execution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soon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requested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word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a </a:t>
            </a:r>
            <a:r>
              <a:rPr sz="2400" dirty="0">
                <a:latin typeface="Arial MT"/>
                <a:cs typeface="Arial MT"/>
              </a:rPr>
              <a:t>block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available.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85"/>
              </a:spcBef>
            </a:pPr>
            <a:endParaRPr sz="2400">
              <a:latin typeface="Arial MT"/>
              <a:cs typeface="Arial MT"/>
            </a:endParaRPr>
          </a:p>
          <a:p>
            <a:pPr marL="356870" marR="5080" indent="-344805">
              <a:lnSpc>
                <a:spcPct val="110000"/>
              </a:lnSpc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Requested</a:t>
            </a:r>
            <a:r>
              <a:rPr sz="2400" b="1" spc="-7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Word</a:t>
            </a:r>
            <a:r>
              <a:rPr sz="2400" b="1" spc="-5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First</a:t>
            </a:r>
            <a:r>
              <a:rPr sz="2400" b="1" spc="-5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/</a:t>
            </a:r>
            <a:r>
              <a:rPr sz="2400" b="1" spc="-3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Critical</a:t>
            </a:r>
            <a:r>
              <a:rPr sz="2400" b="1" spc="-4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Word</a:t>
            </a:r>
            <a:r>
              <a:rPr sz="2400" b="1" spc="-5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06600"/>
                </a:solidFill>
                <a:latin typeface="Arial"/>
                <a:cs typeface="Arial"/>
              </a:rPr>
              <a:t>First: </a:t>
            </a:r>
            <a:r>
              <a:rPr sz="2400" dirty="0">
                <a:latin typeface="Arial MT"/>
                <a:cs typeface="Arial MT"/>
              </a:rPr>
              <a:t>Requested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word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delivered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first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rest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 </a:t>
            </a:r>
            <a:r>
              <a:rPr sz="2400" dirty="0">
                <a:latin typeface="Arial MT"/>
                <a:cs typeface="Arial MT"/>
              </a:rPr>
              <a:t>block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delivered.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754</Words>
  <Application>Microsoft Office PowerPoint</Application>
  <PresentationFormat>On-screen Show (4:3)</PresentationFormat>
  <Paragraphs>106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Arial MT</vt:lpstr>
      <vt:lpstr>Times New Roman</vt:lpstr>
      <vt:lpstr>Wingdings</vt:lpstr>
      <vt:lpstr>Office Theme</vt:lpstr>
      <vt:lpstr>Lecture – 19</vt:lpstr>
      <vt:lpstr>Memory Hierarchy</vt:lpstr>
      <vt:lpstr>The Basic Structure of Memory Hierarchy</vt:lpstr>
      <vt:lpstr>Memory Hierarchy</vt:lpstr>
      <vt:lpstr>Two level Hierarchy</vt:lpstr>
      <vt:lpstr>Terminology</vt:lpstr>
      <vt:lpstr>Terminology</vt:lpstr>
      <vt:lpstr>Principle of Locality</vt:lpstr>
      <vt:lpstr>Memory Hierarchy</vt:lpstr>
      <vt:lpstr>Cache</vt:lpstr>
      <vt:lpstr>Direct Mapped Cache</vt:lpstr>
      <vt:lpstr>A Direct Mapped Cache</vt:lpstr>
      <vt:lpstr>Tag and Valid Bit</vt:lpstr>
      <vt:lpstr>Accessing A Cache</vt:lpstr>
      <vt:lpstr>Accessing A Cache</vt:lpstr>
      <vt:lpstr>Accessing A Cache</vt:lpstr>
      <vt:lpstr>Referencing a Cache Block</vt:lpstr>
      <vt:lpstr>Cache Size</vt:lpstr>
      <vt:lpstr>Bits in a Cache</vt:lpstr>
      <vt:lpstr>Effect of Larger Blocks</vt:lpstr>
      <vt:lpstr>Improving Miss Penalty due to Larger Block</vt:lpstr>
    </vt:vector>
  </TitlesOfParts>
  <Company>cse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fsfsdfdsf</dc:title>
  <dc:creator>Eva</dc:creator>
  <cp:lastModifiedBy>Jargis Ahmed</cp:lastModifiedBy>
  <cp:revision>1</cp:revision>
  <dcterms:created xsi:type="dcterms:W3CDTF">2025-07-08T17:41:24Z</dcterms:created>
  <dcterms:modified xsi:type="dcterms:W3CDTF">2025-07-08T17:42:13Z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2014-05-29T00:00:00Z</vt:filetime>
  </property>
  <property fmtid="{D5CDD505-2E9C-101B-9397-08002B2CF9AE}" pid="3" name="Creator">
    <vt:lpwstr>Acrobat PDFMaker 9.0 for PowerPoint</vt:lpwstr>
  </property>
  <property fmtid="{D5CDD505-2E9C-101B-9397-08002B2CF9AE}" pid="4" name="LastSaved">
    <vt:filetime>2025-07-08T00:00:00Z</vt:filetime>
  </property>
  <property fmtid="{D5CDD505-2E9C-101B-9397-08002B2CF9AE}" pid="5" name="Producer">
    <vt:lpwstr>Adobe PDF Library 9.0</vt:lpwstr>
  </property>
</Properties>
</file>