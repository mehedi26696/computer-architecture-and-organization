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21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2750" y="134937"/>
            <a:ext cx="8731250" cy="27463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9575" y="0"/>
            <a:ext cx="278130" cy="271780"/>
          </a:xfrm>
          <a:custGeom>
            <a:avLst/>
            <a:gdLst/>
            <a:ahLst/>
            <a:cxnLst/>
            <a:rect l="l" t="t" r="r" b="b"/>
            <a:pathLst>
              <a:path w="278130" h="271780">
                <a:moveTo>
                  <a:pt x="138112" y="134937"/>
                </a:moveTo>
                <a:lnTo>
                  <a:pt x="0" y="134937"/>
                </a:lnTo>
                <a:lnTo>
                  <a:pt x="0" y="271462"/>
                </a:lnTo>
                <a:lnTo>
                  <a:pt x="138112" y="271462"/>
                </a:lnTo>
                <a:lnTo>
                  <a:pt x="138112" y="134937"/>
                </a:lnTo>
                <a:close/>
              </a:path>
              <a:path w="278130" h="271780">
                <a:moveTo>
                  <a:pt x="277812" y="0"/>
                </a:moveTo>
                <a:lnTo>
                  <a:pt x="138112" y="0"/>
                </a:lnTo>
                <a:lnTo>
                  <a:pt x="138112" y="134937"/>
                </a:lnTo>
                <a:lnTo>
                  <a:pt x="277812" y="134937"/>
                </a:lnTo>
                <a:lnTo>
                  <a:pt x="277812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7687" y="134937"/>
            <a:ext cx="139700" cy="141605"/>
          </a:xfrm>
          <a:custGeom>
            <a:avLst/>
            <a:gdLst/>
            <a:ahLst/>
            <a:cxnLst/>
            <a:rect l="l" t="t" r="r" b="b"/>
            <a:pathLst>
              <a:path w="139700" h="141604">
                <a:moveTo>
                  <a:pt x="139700" y="0"/>
                </a:moveTo>
                <a:lnTo>
                  <a:pt x="0" y="0"/>
                </a:lnTo>
                <a:lnTo>
                  <a:pt x="0" y="141287"/>
                </a:lnTo>
                <a:lnTo>
                  <a:pt x="139700" y="141287"/>
                </a:lnTo>
                <a:lnTo>
                  <a:pt x="1397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4637" y="274637"/>
            <a:ext cx="136525" cy="135255"/>
          </a:xfrm>
          <a:custGeom>
            <a:avLst/>
            <a:gdLst/>
            <a:ahLst/>
            <a:cxnLst/>
            <a:rect l="l" t="t" r="r" b="b"/>
            <a:pathLst>
              <a:path w="136525" h="135254">
                <a:moveTo>
                  <a:pt x="0" y="134937"/>
                </a:moveTo>
                <a:lnTo>
                  <a:pt x="136525" y="134937"/>
                </a:lnTo>
                <a:lnTo>
                  <a:pt x="136525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1762" y="136525"/>
            <a:ext cx="141605" cy="138430"/>
          </a:xfrm>
          <a:custGeom>
            <a:avLst/>
            <a:gdLst/>
            <a:ahLst/>
            <a:cxnLst/>
            <a:rect l="l" t="t" r="r" b="b"/>
            <a:pathLst>
              <a:path w="141604" h="138429">
                <a:moveTo>
                  <a:pt x="141287" y="0"/>
                </a:moveTo>
                <a:lnTo>
                  <a:pt x="0" y="0"/>
                </a:lnTo>
                <a:lnTo>
                  <a:pt x="0" y="138112"/>
                </a:lnTo>
                <a:lnTo>
                  <a:pt x="141287" y="138112"/>
                </a:lnTo>
                <a:lnTo>
                  <a:pt x="141287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4637" y="271462"/>
            <a:ext cx="273050" cy="274955"/>
          </a:xfrm>
          <a:custGeom>
            <a:avLst/>
            <a:gdLst/>
            <a:ahLst/>
            <a:cxnLst/>
            <a:rect l="l" t="t" r="r" b="b"/>
            <a:pathLst>
              <a:path w="273050" h="274955">
                <a:moveTo>
                  <a:pt x="273050" y="0"/>
                </a:moveTo>
                <a:lnTo>
                  <a:pt x="134937" y="0"/>
                </a:lnTo>
                <a:lnTo>
                  <a:pt x="134937" y="138112"/>
                </a:lnTo>
                <a:lnTo>
                  <a:pt x="0" y="138112"/>
                </a:lnTo>
                <a:lnTo>
                  <a:pt x="0" y="274637"/>
                </a:lnTo>
                <a:lnTo>
                  <a:pt x="136525" y="274637"/>
                </a:lnTo>
                <a:lnTo>
                  <a:pt x="136525" y="138112"/>
                </a:lnTo>
                <a:lnTo>
                  <a:pt x="273050" y="138112"/>
                </a:lnTo>
                <a:lnTo>
                  <a:pt x="27305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9558" y="474980"/>
            <a:ext cx="7564882" cy="115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53802" y="1710577"/>
            <a:ext cx="4848859" cy="425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5558" y="2715260"/>
            <a:ext cx="29914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solidFill>
                  <a:srgbClr val="000099"/>
                </a:solidFill>
              </a:rPr>
              <a:t>Lecture</a:t>
            </a:r>
            <a:r>
              <a:rPr sz="4000" spc="-95" dirty="0">
                <a:solidFill>
                  <a:srgbClr val="000099"/>
                </a:solidFill>
              </a:rPr>
              <a:t> </a:t>
            </a:r>
            <a:r>
              <a:rPr sz="4000">
                <a:solidFill>
                  <a:srgbClr val="000099"/>
                </a:solidFill>
              </a:rPr>
              <a:t>–</a:t>
            </a:r>
            <a:r>
              <a:rPr sz="4000" spc="5">
                <a:solidFill>
                  <a:srgbClr val="000099"/>
                </a:solidFill>
              </a:rPr>
              <a:t> </a:t>
            </a:r>
            <a:r>
              <a:rPr sz="4000" spc="-25">
                <a:solidFill>
                  <a:srgbClr val="000099"/>
                </a:solidFill>
              </a:rPr>
              <a:t>2</a:t>
            </a:r>
            <a:r>
              <a:rPr lang="en-US" sz="4000" spc="-25">
                <a:solidFill>
                  <a:srgbClr val="000099"/>
                </a:solidFill>
              </a:rPr>
              <a:t>0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8758" y="554069"/>
            <a:ext cx="5123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Handling</a:t>
            </a:r>
            <a:r>
              <a:rPr spc="-135" dirty="0"/>
              <a:t> </a:t>
            </a:r>
            <a:r>
              <a:rPr dirty="0"/>
              <a:t>Cache</a:t>
            </a:r>
            <a:r>
              <a:rPr spc="-60" dirty="0"/>
              <a:t> </a:t>
            </a:r>
            <a:r>
              <a:rPr spc="-10" dirty="0"/>
              <a:t>Misses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44561"/>
            <a:ext cx="8016240" cy="478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Steps</a:t>
            </a:r>
            <a:r>
              <a:rPr sz="24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Taken</a:t>
            </a:r>
            <a:r>
              <a:rPr sz="24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on</a:t>
            </a:r>
            <a:r>
              <a:rPr sz="24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an</a:t>
            </a:r>
            <a:r>
              <a:rPr sz="24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Instruction</a:t>
            </a:r>
            <a:r>
              <a:rPr sz="24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Cache</a:t>
            </a:r>
            <a:r>
              <a:rPr sz="2400" b="1" spc="-4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Miss: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621665" indent="-608965">
              <a:lnSpc>
                <a:spcPct val="100000"/>
              </a:lnSpc>
              <a:buClr>
                <a:srgbClr val="00007D"/>
              </a:buClr>
              <a:buSzPct val="75000"/>
              <a:buAutoNum type="arabicPeriod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Send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original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PC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-20" dirty="0">
                <a:latin typeface="Arial MT"/>
                <a:cs typeface="Arial MT"/>
              </a:rPr>
              <a:t> (PC-</a:t>
            </a:r>
            <a:r>
              <a:rPr sz="2400" dirty="0">
                <a:latin typeface="Arial MT"/>
                <a:cs typeface="Arial MT"/>
              </a:rPr>
              <a:t>4)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Clr>
                <a:srgbClr val="00007D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622300" marR="369570" indent="-609600">
              <a:lnSpc>
                <a:spcPct val="80000"/>
              </a:lnSpc>
              <a:buClr>
                <a:srgbClr val="00007D"/>
              </a:buClr>
              <a:buSzPct val="75000"/>
              <a:buAutoNum type="arabicPeriod"/>
              <a:tabLst>
                <a:tab pos="622300" algn="l"/>
              </a:tabLst>
            </a:pPr>
            <a:r>
              <a:rPr sz="2400" dirty="0">
                <a:latin typeface="Arial MT"/>
                <a:cs typeface="Arial MT"/>
              </a:rPr>
              <a:t>Instruct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wait</a:t>
            </a:r>
            <a:r>
              <a:rPr sz="2400" spc="-25" dirty="0">
                <a:latin typeface="Arial MT"/>
                <a:cs typeface="Arial MT"/>
              </a:rPr>
              <a:t> for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Clr>
                <a:srgbClr val="00007D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622300" marR="37465" indent="-609600">
              <a:lnSpc>
                <a:spcPct val="80000"/>
              </a:lnSpc>
              <a:buClr>
                <a:srgbClr val="00007D"/>
              </a:buClr>
              <a:buSzPct val="75000"/>
              <a:buAutoNum type="arabicPeriod"/>
              <a:tabLst>
                <a:tab pos="622300" algn="l"/>
              </a:tabLst>
            </a:pP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entry,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putting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entry,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writing 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upper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turning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valid </a:t>
            </a:r>
            <a:r>
              <a:rPr sz="2400" spc="-25" dirty="0">
                <a:latin typeface="Arial MT"/>
                <a:cs typeface="Arial MT"/>
              </a:rPr>
              <a:t>bit 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Clr>
                <a:srgbClr val="00007D"/>
              </a:buClr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622300" marR="5080" indent="-609600">
              <a:lnSpc>
                <a:spcPts val="2300"/>
              </a:lnSpc>
              <a:buClr>
                <a:srgbClr val="00007D"/>
              </a:buClr>
              <a:buSzPct val="75000"/>
              <a:buAutoNum type="arabicPeriod"/>
              <a:tabLst>
                <a:tab pos="622300" algn="l"/>
              </a:tabLst>
            </a:pPr>
            <a:r>
              <a:rPr sz="2400" dirty="0">
                <a:latin typeface="Arial MT"/>
                <a:cs typeface="Arial MT"/>
              </a:rPr>
              <a:t>Restart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refetch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6375" y="538988"/>
            <a:ext cx="35007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Handling</a:t>
            </a:r>
            <a:r>
              <a:rPr spc="-175" dirty="0"/>
              <a:t> </a:t>
            </a:r>
            <a:r>
              <a:rPr spc="-10" dirty="0"/>
              <a:t>Writes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98523"/>
            <a:ext cx="7844790" cy="4503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Write</a:t>
            </a:r>
            <a:r>
              <a:rPr sz="24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Through: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400">
              <a:latin typeface="Arial"/>
              <a:cs typeface="Arial"/>
            </a:endParaRPr>
          </a:p>
          <a:p>
            <a:pPr marL="356870" marR="124460" indent="-344805">
              <a:lnSpc>
                <a:spcPts val="23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Writes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always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memory, </a:t>
            </a:r>
            <a:r>
              <a:rPr sz="2400" dirty="0">
                <a:latin typeface="Arial MT"/>
                <a:cs typeface="Arial MT"/>
              </a:rPr>
              <a:t>ensuring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always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consistent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two.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241300" indent="-344805">
              <a:lnSpc>
                <a:spcPts val="23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longer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slow </a:t>
            </a:r>
            <a:r>
              <a:rPr sz="2400" dirty="0">
                <a:latin typeface="Arial MT"/>
                <a:cs typeface="Arial MT"/>
              </a:rPr>
              <a:t>down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processor.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ts val="23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Let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CPI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1.0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10%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100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clock </a:t>
            </a:r>
            <a:r>
              <a:rPr sz="2400" dirty="0">
                <a:latin typeface="Arial MT"/>
                <a:cs typeface="Arial MT"/>
              </a:rPr>
              <a:t>cycle,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CPI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1.0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10%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11.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Solution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write</a:t>
            </a:r>
            <a:r>
              <a:rPr sz="2400" b="1" spc="-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buffer</a:t>
            </a:r>
            <a:r>
              <a:rPr sz="2400" spc="-10" dirty="0">
                <a:solidFill>
                  <a:srgbClr val="9999CC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9038" y="474980"/>
            <a:ext cx="405447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dirty="0"/>
              <a:t>Handling</a:t>
            </a:r>
            <a:r>
              <a:rPr sz="4000" spc="15" dirty="0"/>
              <a:t> </a:t>
            </a:r>
            <a:r>
              <a:rPr sz="4400" spc="-10" dirty="0"/>
              <a:t>Writes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59740" y="1172971"/>
            <a:ext cx="8429625" cy="5283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006600"/>
                </a:solidFill>
                <a:latin typeface="Arial"/>
                <a:cs typeface="Arial"/>
              </a:rPr>
              <a:t>Write</a:t>
            </a:r>
            <a:r>
              <a:rPr sz="2300" b="1" spc="-9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006600"/>
                </a:solidFill>
                <a:latin typeface="Arial"/>
                <a:cs typeface="Arial"/>
              </a:rPr>
              <a:t>buffer: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300">
              <a:latin typeface="Arial"/>
              <a:cs typeface="Arial"/>
            </a:endParaRPr>
          </a:p>
          <a:p>
            <a:pPr marL="356870" marR="790575" indent="-344805">
              <a:lnSpc>
                <a:spcPct val="80000"/>
              </a:lnSpc>
              <a:buClr>
                <a:srgbClr val="000099"/>
              </a:buClr>
              <a:buSzPct val="123913"/>
              <a:buFont typeface="Wingdings"/>
              <a:buChar char=""/>
              <a:tabLst>
                <a:tab pos="356870" algn="l"/>
              </a:tabLst>
            </a:pPr>
            <a:r>
              <a:rPr sz="2300" dirty="0">
                <a:latin typeface="Arial MT"/>
                <a:cs typeface="Arial MT"/>
              </a:rPr>
              <a:t>Write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buffer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stores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data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while</a:t>
            </a:r>
            <a:r>
              <a:rPr sz="2300" spc="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it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is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waiting</a:t>
            </a:r>
            <a:r>
              <a:rPr sz="2300" spc="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written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to </a:t>
            </a:r>
            <a:r>
              <a:rPr sz="2300" spc="-10" dirty="0">
                <a:latin typeface="Arial MT"/>
                <a:cs typeface="Arial MT"/>
              </a:rPr>
              <a:t>memory.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000099"/>
              </a:buClr>
              <a:buFont typeface="Wingdings"/>
              <a:buChar char=""/>
            </a:pPr>
            <a:endParaRPr sz="2300">
              <a:latin typeface="Arial MT"/>
              <a:cs typeface="Arial MT"/>
            </a:endParaRPr>
          </a:p>
          <a:p>
            <a:pPr marL="356870" marR="283845" indent="-344805">
              <a:lnSpc>
                <a:spcPct val="80000"/>
              </a:lnSpc>
              <a:spcBef>
                <a:spcPts val="5"/>
              </a:spcBef>
              <a:buClr>
                <a:srgbClr val="000099"/>
              </a:buClr>
              <a:buSzPct val="123913"/>
              <a:buFont typeface="Wingdings"/>
              <a:buChar char=""/>
              <a:tabLst>
                <a:tab pos="356870" algn="l"/>
              </a:tabLst>
            </a:pPr>
            <a:r>
              <a:rPr sz="2300" dirty="0">
                <a:latin typeface="Arial MT"/>
                <a:cs typeface="Arial MT"/>
              </a:rPr>
              <a:t>After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writing</a:t>
            </a:r>
            <a:r>
              <a:rPr sz="2300" spc="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data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into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cache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into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write</a:t>
            </a:r>
            <a:r>
              <a:rPr sz="2300" spc="-10" dirty="0">
                <a:latin typeface="Arial MT"/>
                <a:cs typeface="Arial MT"/>
              </a:rPr>
              <a:t> buffer,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processor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can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continue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execution.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000099"/>
              </a:buClr>
              <a:buFont typeface="Wingdings"/>
              <a:buChar char=""/>
            </a:pPr>
            <a:endParaRPr sz="2300">
              <a:latin typeface="Arial MT"/>
              <a:cs typeface="Arial MT"/>
            </a:endParaRPr>
          </a:p>
          <a:p>
            <a:pPr marL="356870" marR="5080" indent="-344805">
              <a:lnSpc>
                <a:spcPct val="80000"/>
              </a:lnSpc>
              <a:buClr>
                <a:srgbClr val="000099"/>
              </a:buClr>
              <a:buSzPct val="123913"/>
              <a:buFont typeface="Wingdings"/>
              <a:buChar char=""/>
              <a:tabLst>
                <a:tab pos="356870" algn="l"/>
              </a:tabLst>
            </a:pPr>
            <a:r>
              <a:rPr sz="2300" dirty="0">
                <a:latin typeface="Arial MT"/>
                <a:cs typeface="Arial MT"/>
              </a:rPr>
              <a:t>When</a:t>
            </a:r>
            <a:r>
              <a:rPr sz="2300" spc="-10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write</a:t>
            </a:r>
            <a:r>
              <a:rPr sz="2300" spc="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main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memory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completes,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entry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write </a:t>
            </a:r>
            <a:r>
              <a:rPr sz="2300" dirty="0">
                <a:latin typeface="Arial MT"/>
                <a:cs typeface="Arial MT"/>
              </a:rPr>
              <a:t>buffer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is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freed.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Clr>
                <a:srgbClr val="000099"/>
              </a:buClr>
              <a:buFont typeface="Wingdings"/>
              <a:buChar char=""/>
            </a:pPr>
            <a:endParaRPr sz="23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3913"/>
              <a:buFont typeface="Wingdings"/>
              <a:buChar char=""/>
              <a:tabLst>
                <a:tab pos="356870" algn="l"/>
              </a:tabLst>
            </a:pP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processor must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stall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for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write</a:t>
            </a:r>
            <a:r>
              <a:rPr sz="2300" spc="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buffer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become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empty.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Clr>
                <a:srgbClr val="000099"/>
              </a:buClr>
              <a:buFont typeface="Wingdings"/>
              <a:buChar char=""/>
            </a:pPr>
            <a:endParaRPr sz="2300">
              <a:latin typeface="Arial MT"/>
              <a:cs typeface="Arial MT"/>
            </a:endParaRPr>
          </a:p>
          <a:p>
            <a:pPr marL="356870" marR="359410" indent="-344805">
              <a:lnSpc>
                <a:spcPct val="80000"/>
              </a:lnSpc>
              <a:buClr>
                <a:srgbClr val="000099"/>
              </a:buClr>
              <a:buSzPct val="123913"/>
              <a:buFont typeface="Wingdings"/>
              <a:buChar char=""/>
              <a:tabLst>
                <a:tab pos="356870" algn="l"/>
              </a:tabLst>
            </a:pPr>
            <a:r>
              <a:rPr sz="2300" dirty="0">
                <a:latin typeface="Arial MT"/>
                <a:cs typeface="Arial MT"/>
              </a:rPr>
              <a:t>If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rate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generating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write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by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processor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is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larger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than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rate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at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which</a:t>
            </a:r>
            <a:r>
              <a:rPr sz="2300" spc="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memory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can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accept,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then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it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will</a:t>
            </a:r>
            <a:r>
              <a:rPr sz="2300" spc="4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create problem.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2575" y="493744"/>
            <a:ext cx="35007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Handling</a:t>
            </a:r>
            <a:r>
              <a:rPr spc="-175" dirty="0"/>
              <a:t> </a:t>
            </a:r>
            <a:r>
              <a:rPr spc="-10" dirty="0"/>
              <a:t>Writes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713"/>
            <a:ext cx="7657465" cy="377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Write</a:t>
            </a:r>
            <a:r>
              <a:rPr sz="2400" b="1" spc="-6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Back: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355600" marR="5080" indent="-343535" algn="just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handles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updating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modified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lower 	</a:t>
            </a:r>
            <a:r>
              <a:rPr sz="2400" dirty="0">
                <a:latin typeface="Arial MT"/>
                <a:cs typeface="Arial MT"/>
              </a:rPr>
              <a:t>level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hierarchy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replaced.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improves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performance.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spc="-10" dirty="0">
                <a:latin typeface="Arial MT"/>
                <a:cs typeface="Arial MT"/>
              </a:rPr>
              <a:t>Implementation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difficult.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925" rIns="0" bIns="0" rtlCol="0">
            <a:spAutoFit/>
          </a:bodyPr>
          <a:lstStyle/>
          <a:p>
            <a:pPr marL="3172460" marR="5080" indent="-3063240">
              <a:lnSpc>
                <a:spcPct val="100000"/>
              </a:lnSpc>
              <a:spcBef>
                <a:spcPts val="90"/>
              </a:spcBef>
            </a:pPr>
            <a:r>
              <a:rPr sz="3200" dirty="0"/>
              <a:t>Designing</a:t>
            </a:r>
            <a:r>
              <a:rPr sz="3200" spc="-110" dirty="0"/>
              <a:t> </a:t>
            </a:r>
            <a:r>
              <a:rPr sz="3200" dirty="0"/>
              <a:t>Memory</a:t>
            </a:r>
            <a:r>
              <a:rPr sz="3200" spc="-85" dirty="0"/>
              <a:t> </a:t>
            </a:r>
            <a:r>
              <a:rPr sz="3200" dirty="0"/>
              <a:t>System</a:t>
            </a:r>
            <a:r>
              <a:rPr sz="3200" spc="-25" dirty="0"/>
              <a:t> </a:t>
            </a:r>
            <a:r>
              <a:rPr sz="3200" dirty="0"/>
              <a:t>to</a:t>
            </a:r>
            <a:r>
              <a:rPr sz="3200" spc="-90" dirty="0"/>
              <a:t> </a:t>
            </a:r>
            <a:r>
              <a:rPr sz="3200" spc="-10" dirty="0"/>
              <a:t>Support Cache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35940" y="1971548"/>
            <a:ext cx="7646670" cy="41509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6870" marR="5080" indent="-344805">
              <a:lnSpc>
                <a:spcPts val="2380"/>
              </a:lnSpc>
              <a:spcBef>
                <a:spcPts val="4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dirty="0">
                <a:latin typeface="Arial MT"/>
                <a:cs typeface="Arial MT"/>
              </a:rPr>
              <a:t>We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reduce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miss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penalty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Increasing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 bandwidth.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Clr>
                <a:srgbClr val="000099"/>
              </a:buClr>
              <a:buFont typeface="Wingdings"/>
              <a:buChar char=""/>
            </a:pPr>
            <a:endParaRPr sz="2200">
              <a:latin typeface="Arial MT"/>
              <a:cs typeface="Arial MT"/>
            </a:endParaRPr>
          </a:p>
          <a:p>
            <a:pPr marL="356870" marR="83820" indent="-344805">
              <a:lnSpc>
                <a:spcPts val="238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clock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usually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much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slower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processor,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much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 factor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10.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speed 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this </a:t>
            </a:r>
            <a:r>
              <a:rPr sz="2200" dirty="0">
                <a:latin typeface="Arial MT"/>
                <a:cs typeface="Arial MT"/>
              </a:rPr>
              <a:t>affects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miss </a:t>
            </a:r>
            <a:r>
              <a:rPr sz="2200" spc="-10" dirty="0">
                <a:latin typeface="Arial MT"/>
                <a:cs typeface="Arial MT"/>
              </a:rPr>
              <a:t>penalty.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000099"/>
              </a:buClr>
              <a:buFont typeface="Wingdings"/>
              <a:buChar char=""/>
            </a:pPr>
            <a:endParaRPr sz="22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200" dirty="0">
                <a:latin typeface="Arial MT"/>
                <a:cs typeface="Arial MT"/>
              </a:rPr>
              <a:t>Assume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following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access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time:</a:t>
            </a:r>
            <a:endParaRPr sz="22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9999CC"/>
              </a:buClr>
              <a:buSzPct val="79545"/>
              <a:buFont typeface="Wingdings"/>
              <a:buChar char=""/>
              <a:tabLst>
                <a:tab pos="756285" algn="l"/>
              </a:tabLst>
            </a:pPr>
            <a:r>
              <a:rPr sz="2200" dirty="0">
                <a:latin typeface="Arial MT"/>
                <a:cs typeface="Arial MT"/>
              </a:rPr>
              <a:t>1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clock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cycle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address.</a:t>
            </a:r>
            <a:endParaRPr sz="2200">
              <a:latin typeface="Arial MT"/>
              <a:cs typeface="Arial MT"/>
            </a:endParaRPr>
          </a:p>
          <a:p>
            <a:pPr marL="756285" marR="450850" lvl="1" indent="-287020">
              <a:lnSpc>
                <a:spcPts val="2380"/>
              </a:lnSpc>
              <a:spcBef>
                <a:spcPts val="560"/>
              </a:spcBef>
              <a:buClr>
                <a:srgbClr val="9999CC"/>
              </a:buClr>
              <a:buSzPct val="79545"/>
              <a:buFont typeface="Wingdings"/>
              <a:buChar char=""/>
              <a:tabLst>
                <a:tab pos="756285" algn="l"/>
              </a:tabLst>
            </a:pPr>
            <a:r>
              <a:rPr sz="2200" dirty="0">
                <a:latin typeface="Arial MT"/>
                <a:cs typeface="Arial MT"/>
              </a:rPr>
              <a:t>15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clock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cycles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DRAM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access initiated.</a:t>
            </a:r>
            <a:endParaRPr sz="22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225"/>
              </a:spcBef>
              <a:buClr>
                <a:srgbClr val="9999CC"/>
              </a:buClr>
              <a:buSzPct val="79545"/>
              <a:buFont typeface="Wingdings"/>
              <a:buChar char=""/>
              <a:tabLst>
                <a:tab pos="756285" algn="l"/>
              </a:tabLst>
            </a:pPr>
            <a:r>
              <a:rPr sz="2200" dirty="0">
                <a:latin typeface="Arial MT"/>
                <a:cs typeface="Arial MT"/>
              </a:rPr>
              <a:t>1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clock cycle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send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6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0"/>
              </a:spcBef>
            </a:pPr>
            <a:r>
              <a:rPr sz="3200" spc="-25" dirty="0"/>
              <a:t>One-</a:t>
            </a:r>
            <a:r>
              <a:rPr sz="3200" spc="-30" dirty="0"/>
              <a:t>Word-</a:t>
            </a:r>
            <a:r>
              <a:rPr sz="3200" dirty="0"/>
              <a:t>Wide</a:t>
            </a:r>
            <a:r>
              <a:rPr sz="3200" spc="-20" dirty="0"/>
              <a:t> </a:t>
            </a:r>
            <a:r>
              <a:rPr sz="3200" dirty="0"/>
              <a:t>Memory</a:t>
            </a:r>
            <a:r>
              <a:rPr sz="3200" spc="-20" dirty="0"/>
              <a:t> </a:t>
            </a:r>
            <a:r>
              <a:rPr sz="3200" spc="-10" dirty="0"/>
              <a:t>Organization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413507" y="1687127"/>
            <a:ext cx="6292215" cy="31959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spc="-10" dirty="0">
                <a:latin typeface="Arial MT"/>
                <a:cs typeface="Arial MT"/>
              </a:rPr>
              <a:t>Suppose,</a:t>
            </a:r>
            <a:endParaRPr sz="2000">
              <a:latin typeface="Arial MT"/>
              <a:cs typeface="Arial MT"/>
            </a:endParaRPr>
          </a:p>
          <a:p>
            <a:pPr marL="79375" marR="3514090" indent="-67310">
              <a:lnSpc>
                <a:spcPct val="120000"/>
              </a:lnSpc>
            </a:pPr>
            <a:r>
              <a:rPr sz="2000" dirty="0">
                <a:latin typeface="Arial MT"/>
                <a:cs typeface="Arial MT"/>
              </a:rPr>
              <a:t>Cache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words.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width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word.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Arial MT"/>
              <a:cs typeface="Arial MT"/>
            </a:endParaRPr>
          </a:p>
          <a:p>
            <a:pPr marL="79375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Then,</a:t>
            </a:r>
            <a:endParaRPr sz="2000">
              <a:latin typeface="Arial MT"/>
              <a:cs typeface="Arial MT"/>
            </a:endParaRPr>
          </a:p>
          <a:p>
            <a:pPr marL="79375" marR="553720" indent="-6731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Miss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penalty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1+4*15+4*1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65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clock cycles.</a:t>
            </a:r>
            <a:endParaRPr sz="2000">
              <a:latin typeface="Arial MT"/>
              <a:cs typeface="Arial MT"/>
            </a:endParaRPr>
          </a:p>
          <a:p>
            <a:pPr marL="79375" marR="508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bytes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transferred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for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single miss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4*4/65 =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0.25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166" y="1370252"/>
            <a:ext cx="923208" cy="53616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2519" y="477869"/>
            <a:ext cx="5918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Wide</a:t>
            </a:r>
            <a:r>
              <a:rPr spc="-120" dirty="0"/>
              <a:t> </a:t>
            </a:r>
            <a:r>
              <a:rPr dirty="0"/>
              <a:t>Memory</a:t>
            </a:r>
            <a:r>
              <a:rPr spc="-4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7235" y="1481977"/>
            <a:ext cx="4537710" cy="391477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spc="-10" dirty="0">
                <a:latin typeface="Arial MT"/>
                <a:cs typeface="Arial MT"/>
              </a:rPr>
              <a:t>Suppose,</a:t>
            </a:r>
            <a:endParaRPr sz="2200">
              <a:latin typeface="Arial MT"/>
              <a:cs typeface="Arial MT"/>
            </a:endParaRPr>
          </a:p>
          <a:p>
            <a:pPr marL="45720" marR="1370965" indent="-33655">
              <a:lnSpc>
                <a:spcPct val="120000"/>
              </a:lnSpc>
            </a:pPr>
            <a:r>
              <a:rPr sz="2200" dirty="0">
                <a:latin typeface="Arial MT"/>
                <a:cs typeface="Arial MT"/>
              </a:rPr>
              <a:t>Cache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=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4</a:t>
            </a:r>
            <a:r>
              <a:rPr sz="2200" spc="-10" dirty="0">
                <a:latin typeface="Arial MT"/>
                <a:cs typeface="Arial MT"/>
              </a:rPr>
              <a:t> words.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width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=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2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words.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Arial MT"/>
                <a:cs typeface="Arial MT"/>
              </a:rPr>
              <a:t>Then,</a:t>
            </a:r>
            <a:endParaRPr sz="2200">
              <a:latin typeface="Arial MT"/>
              <a:cs typeface="Arial MT"/>
            </a:endParaRPr>
          </a:p>
          <a:p>
            <a:pPr marL="45720" marR="506730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Arial MT"/>
                <a:cs typeface="Arial MT"/>
              </a:rPr>
              <a:t>Miss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penalty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= 1+2*15+2*1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= </a:t>
            </a:r>
            <a:r>
              <a:rPr sz="2200" spc="-25" dirty="0">
                <a:latin typeface="Arial MT"/>
                <a:cs typeface="Arial MT"/>
              </a:rPr>
              <a:t>33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bus clock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cycles.</a:t>
            </a:r>
            <a:endParaRPr sz="2200">
              <a:latin typeface="Arial MT"/>
              <a:cs typeface="Arial MT"/>
            </a:endParaRPr>
          </a:p>
          <a:p>
            <a:pPr marL="45720" marR="5080">
              <a:lnSpc>
                <a:spcPct val="109900"/>
              </a:lnSpc>
              <a:spcBef>
                <a:spcPts val="27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number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bytes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transferred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per </a:t>
            </a:r>
            <a:r>
              <a:rPr sz="2200" dirty="0">
                <a:latin typeface="Arial MT"/>
                <a:cs typeface="Arial MT"/>
              </a:rPr>
              <a:t>bus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clock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cycle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single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miss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= </a:t>
            </a:r>
            <a:r>
              <a:rPr sz="2200" dirty="0">
                <a:latin typeface="Arial MT"/>
                <a:cs typeface="Arial MT"/>
              </a:rPr>
              <a:t>4*4/33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=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0.48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625" y="1819275"/>
            <a:ext cx="3328110" cy="3514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770" rIns="0" bIns="0" rtlCol="0">
            <a:spAutoFit/>
          </a:bodyPr>
          <a:lstStyle/>
          <a:p>
            <a:pPr marL="173990">
              <a:lnSpc>
                <a:spcPct val="100000"/>
              </a:lnSpc>
              <a:spcBef>
                <a:spcPts val="100"/>
              </a:spcBef>
            </a:pPr>
            <a:r>
              <a:rPr dirty="0"/>
              <a:t>Interleaved</a:t>
            </a:r>
            <a:r>
              <a:rPr spc="-75" dirty="0"/>
              <a:t> </a:t>
            </a:r>
            <a:r>
              <a:rPr dirty="0"/>
              <a:t>Memory</a:t>
            </a:r>
            <a:r>
              <a:rPr spc="-105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625"/>
              </a:spcBef>
            </a:pPr>
            <a:r>
              <a:rPr spc="-10" dirty="0"/>
              <a:t>Suppose,</a:t>
            </a:r>
          </a:p>
          <a:p>
            <a:pPr marL="356870" marR="1370965" indent="-33655">
              <a:lnSpc>
                <a:spcPct val="120000"/>
              </a:lnSpc>
            </a:pPr>
            <a:r>
              <a:rPr dirty="0"/>
              <a:t>Cache</a:t>
            </a:r>
            <a:r>
              <a:rPr spc="-45" dirty="0"/>
              <a:t> </a:t>
            </a:r>
            <a:r>
              <a:rPr dirty="0"/>
              <a:t>block</a:t>
            </a:r>
            <a:r>
              <a:rPr spc="-25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dirty="0"/>
              <a:t>4</a:t>
            </a:r>
            <a:r>
              <a:rPr spc="-10" dirty="0"/>
              <a:t> words. </a:t>
            </a:r>
            <a:r>
              <a:rPr dirty="0"/>
              <a:t>Memory</a:t>
            </a:r>
            <a:r>
              <a:rPr spc="-40" dirty="0"/>
              <a:t> </a:t>
            </a:r>
            <a:r>
              <a:rPr dirty="0"/>
              <a:t>width</a:t>
            </a:r>
            <a:r>
              <a:rPr spc="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spc="-10" dirty="0"/>
              <a:t>words.</a:t>
            </a: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pc="-10" dirty="0"/>
          </a:p>
          <a:p>
            <a:pPr marL="323215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Then,</a:t>
            </a:r>
          </a:p>
          <a:p>
            <a:pPr marL="356870" marR="540385" indent="-33655">
              <a:lnSpc>
                <a:spcPct val="100000"/>
              </a:lnSpc>
              <a:spcBef>
                <a:spcPts val="525"/>
              </a:spcBef>
            </a:pPr>
            <a:r>
              <a:rPr dirty="0"/>
              <a:t>Miss</a:t>
            </a:r>
            <a:r>
              <a:rPr spc="-20" dirty="0"/>
              <a:t> </a:t>
            </a:r>
            <a:r>
              <a:rPr dirty="0"/>
              <a:t>penalty</a:t>
            </a:r>
            <a:r>
              <a:rPr spc="-10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/>
              <a:t>1+1*15+4*1</a:t>
            </a:r>
            <a:r>
              <a:rPr spc="-55" dirty="0"/>
              <a:t> </a:t>
            </a:r>
            <a:r>
              <a:rPr dirty="0"/>
              <a:t>=</a:t>
            </a:r>
            <a:r>
              <a:rPr spc="-25" dirty="0"/>
              <a:t> 20 </a:t>
            </a:r>
            <a:r>
              <a:rPr dirty="0"/>
              <a:t>memory</a:t>
            </a:r>
            <a:r>
              <a:rPr spc="-80" dirty="0"/>
              <a:t> </a:t>
            </a:r>
            <a:r>
              <a:rPr dirty="0"/>
              <a:t>bus clock</a:t>
            </a:r>
            <a:r>
              <a:rPr spc="-20" dirty="0"/>
              <a:t> </a:t>
            </a:r>
            <a:r>
              <a:rPr spc="-10" dirty="0"/>
              <a:t>cycles.</a:t>
            </a:r>
          </a:p>
          <a:p>
            <a:pPr marL="356870" marR="5080">
              <a:lnSpc>
                <a:spcPct val="100000"/>
              </a:lnSpc>
              <a:spcBef>
                <a:spcPts val="53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number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bytes</a:t>
            </a:r>
            <a:r>
              <a:rPr spc="5" dirty="0"/>
              <a:t> </a:t>
            </a:r>
            <a:r>
              <a:rPr dirty="0"/>
              <a:t>transferred</a:t>
            </a:r>
            <a:r>
              <a:rPr spc="-70" dirty="0"/>
              <a:t> </a:t>
            </a:r>
            <a:r>
              <a:rPr spc="-25" dirty="0"/>
              <a:t>per </a:t>
            </a:r>
            <a:r>
              <a:rPr dirty="0"/>
              <a:t>bus</a:t>
            </a:r>
            <a:r>
              <a:rPr spc="-60" dirty="0"/>
              <a:t> </a:t>
            </a:r>
            <a:r>
              <a:rPr dirty="0"/>
              <a:t>clock</a:t>
            </a:r>
            <a:r>
              <a:rPr spc="5" dirty="0"/>
              <a:t> </a:t>
            </a:r>
            <a:r>
              <a:rPr dirty="0"/>
              <a:t>cycle</a:t>
            </a:r>
            <a:r>
              <a:rPr spc="-1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single</a:t>
            </a:r>
            <a:r>
              <a:rPr spc="-30" dirty="0"/>
              <a:t> </a:t>
            </a:r>
            <a:r>
              <a:rPr dirty="0"/>
              <a:t>miss</a:t>
            </a:r>
            <a:r>
              <a:rPr spc="-20" dirty="0"/>
              <a:t> </a:t>
            </a:r>
            <a:r>
              <a:rPr spc="-50" dirty="0"/>
              <a:t>= </a:t>
            </a:r>
            <a:r>
              <a:rPr dirty="0"/>
              <a:t>4*4/20</a:t>
            </a:r>
            <a:r>
              <a:rPr spc="-45" dirty="0"/>
              <a:t> </a:t>
            </a:r>
            <a:r>
              <a:rPr dirty="0"/>
              <a:t>=</a:t>
            </a:r>
            <a:r>
              <a:rPr spc="-5" dirty="0"/>
              <a:t> </a:t>
            </a:r>
            <a:r>
              <a:rPr spc="-20" dirty="0"/>
              <a:t>0.80</a:t>
            </a:r>
          </a:p>
          <a:p>
            <a:pPr marL="356870" indent="-344170">
              <a:lnSpc>
                <a:spcPct val="100000"/>
              </a:lnSpc>
              <a:spcBef>
                <a:spcPts val="525"/>
              </a:spcBef>
              <a:buSzPct val="75000"/>
              <a:buFont typeface="Wingdings"/>
              <a:buChar char=""/>
              <a:tabLst>
                <a:tab pos="356870" algn="l"/>
              </a:tabLst>
            </a:pPr>
            <a:r>
              <a:rPr dirty="0"/>
              <a:t>It</a:t>
            </a:r>
            <a:r>
              <a:rPr spc="-55" dirty="0"/>
              <a:t> </a:t>
            </a:r>
            <a:r>
              <a:rPr dirty="0"/>
              <a:t>also</a:t>
            </a:r>
            <a:r>
              <a:rPr spc="-40" dirty="0"/>
              <a:t> </a:t>
            </a:r>
            <a:r>
              <a:rPr dirty="0"/>
              <a:t>improves</a:t>
            </a:r>
            <a:r>
              <a:rPr spc="-15" dirty="0"/>
              <a:t> </a:t>
            </a:r>
            <a:r>
              <a:rPr dirty="0"/>
              <a:t>write </a:t>
            </a:r>
            <a:r>
              <a:rPr spc="-20" dirty="0"/>
              <a:t>miss.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831" y="1952625"/>
            <a:ext cx="3459845" cy="3514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164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00"/>
              </a:spcBef>
            </a:pPr>
            <a:r>
              <a:rPr dirty="0"/>
              <a:t>Reducing</a:t>
            </a:r>
            <a:r>
              <a:rPr spc="-120" dirty="0"/>
              <a:t> </a:t>
            </a:r>
            <a:r>
              <a:rPr dirty="0"/>
              <a:t>Cache</a:t>
            </a:r>
            <a:r>
              <a:rPr spc="-70" dirty="0"/>
              <a:t> </a:t>
            </a:r>
            <a:r>
              <a:rPr spc="-10" dirty="0"/>
              <a:t>Misses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25561"/>
            <a:ext cx="3843654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ways:</a:t>
            </a:r>
            <a:endParaRPr sz="2400">
              <a:latin typeface="Arial MT"/>
              <a:cs typeface="Arial MT"/>
            </a:endParaRPr>
          </a:p>
          <a:p>
            <a:pPr marL="690245" indent="-33337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AutoNum type="arabicPeriod"/>
              <a:tabLst>
                <a:tab pos="690245" algn="l"/>
              </a:tabLst>
            </a:pPr>
            <a:r>
              <a:rPr sz="2400" dirty="0">
                <a:latin typeface="Arial MT"/>
                <a:cs typeface="Arial MT"/>
              </a:rPr>
              <a:t>Fully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cache</a:t>
            </a:r>
            <a:endParaRPr sz="2400">
              <a:latin typeface="Arial MT"/>
              <a:cs typeface="Arial MT"/>
            </a:endParaRPr>
          </a:p>
          <a:p>
            <a:pPr marL="690245" indent="-33337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AutoNum type="arabicPeriod"/>
              <a:tabLst>
                <a:tab pos="690245" algn="l"/>
              </a:tabLst>
            </a:pP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cache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864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00"/>
              </a:spcBef>
            </a:pPr>
            <a:r>
              <a:rPr dirty="0"/>
              <a:t>Fully</a:t>
            </a:r>
            <a:r>
              <a:rPr spc="-155" dirty="0"/>
              <a:t> </a:t>
            </a:r>
            <a:r>
              <a:rPr dirty="0"/>
              <a:t>Associative</a:t>
            </a:r>
            <a:r>
              <a:rPr spc="-5" dirty="0"/>
              <a:t> </a:t>
            </a: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70113"/>
            <a:ext cx="7962900" cy="448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6261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cache.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 block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entries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be </a:t>
            </a:r>
            <a:r>
              <a:rPr sz="2400" spc="-10" dirty="0">
                <a:latin typeface="Arial MT"/>
                <a:cs typeface="Arial MT"/>
              </a:rPr>
              <a:t>searched.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885825" indent="-344805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comparator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entry </a:t>
            </a:r>
            <a:r>
              <a:rPr sz="2400" dirty="0">
                <a:latin typeface="Arial MT"/>
                <a:cs typeface="Arial MT"/>
              </a:rPr>
              <a:t>increasing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hardware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446405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placement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practical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10" dirty="0">
                <a:latin typeface="Arial MT"/>
                <a:cs typeface="Arial MT"/>
              </a:rPr>
              <a:t> small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4582" y="623919"/>
            <a:ext cx="4897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-105" dirty="0"/>
              <a:t> </a:t>
            </a:r>
            <a:r>
              <a:rPr dirty="0"/>
              <a:t>Associative</a:t>
            </a:r>
            <a:r>
              <a:rPr spc="-5" dirty="0"/>
              <a:t> </a:t>
            </a: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923"/>
            <a:ext cx="7997825" cy="40487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6870" marR="122555" indent="-344805">
              <a:lnSpc>
                <a:spcPts val="2300"/>
              </a:lnSpc>
              <a:spcBef>
                <a:spcPts val="66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fixed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placed.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466725" indent="-344805">
              <a:lnSpc>
                <a:spcPct val="8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set-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n-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313690" indent="-344805">
              <a:lnSpc>
                <a:spcPts val="23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n-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sets,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ts val="23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unique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5" dirty="0">
                <a:latin typeface="Arial MT"/>
                <a:cs typeface="Arial MT"/>
              </a:rPr>
              <a:t> the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placed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4582" y="623919"/>
            <a:ext cx="4897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-105" dirty="0"/>
              <a:t> </a:t>
            </a:r>
            <a:r>
              <a:rPr dirty="0"/>
              <a:t>Associative</a:t>
            </a:r>
            <a:r>
              <a:rPr spc="-5" dirty="0"/>
              <a:t> </a:t>
            </a: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0923"/>
            <a:ext cx="8016875" cy="37719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6870" marR="327660" indent="-344805">
              <a:lnSpc>
                <a:spcPts val="2300"/>
              </a:lnSpc>
              <a:spcBef>
                <a:spcPts val="66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combines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mapping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fully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associative </a:t>
            </a:r>
            <a:r>
              <a:rPr sz="2400" dirty="0">
                <a:latin typeface="Arial MT"/>
                <a:cs typeface="Arial MT"/>
              </a:rPr>
              <a:t>placement.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directly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mapped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searched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match.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ts val="23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(Block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number)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modulo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(Number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195580" indent="-344805">
              <a:lnSpc>
                <a:spcPct val="8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advantage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degree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associativity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usually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decreases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rate.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disadvantage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increases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7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dirty="0"/>
              <a:t>Memory</a:t>
            </a:r>
            <a:r>
              <a:rPr sz="3400" spc="-55" dirty="0"/>
              <a:t> </a:t>
            </a:r>
            <a:r>
              <a:rPr sz="3400" dirty="0"/>
              <a:t>Block</a:t>
            </a:r>
            <a:r>
              <a:rPr sz="3400" spc="-50" dirty="0"/>
              <a:t> </a:t>
            </a:r>
            <a:r>
              <a:rPr sz="3400" dirty="0"/>
              <a:t>Mapping</a:t>
            </a:r>
            <a:r>
              <a:rPr sz="3400" spc="-45" dirty="0"/>
              <a:t> </a:t>
            </a:r>
            <a:r>
              <a:rPr sz="3400" dirty="0"/>
              <a:t>in</a:t>
            </a:r>
            <a:r>
              <a:rPr sz="3400" spc="-15" dirty="0"/>
              <a:t> </a:t>
            </a:r>
            <a:r>
              <a:rPr sz="3400" dirty="0"/>
              <a:t>the</a:t>
            </a:r>
            <a:r>
              <a:rPr sz="3400" spc="-30" dirty="0"/>
              <a:t> </a:t>
            </a:r>
            <a:r>
              <a:rPr sz="3400" spc="-10" dirty="0"/>
              <a:t>Cache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75" y="1971675"/>
            <a:ext cx="8629650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64" rIns="0" bIns="0" rtlCol="0">
            <a:spAutoFit/>
          </a:bodyPr>
          <a:lstStyle/>
          <a:p>
            <a:pPr marL="1533525">
              <a:lnSpc>
                <a:spcPct val="100000"/>
              </a:lnSpc>
              <a:spcBef>
                <a:spcPts val="100"/>
              </a:spcBef>
            </a:pPr>
            <a:r>
              <a:rPr dirty="0"/>
              <a:t>Cache</a:t>
            </a:r>
            <a:r>
              <a:rPr spc="-90" dirty="0"/>
              <a:t> </a:t>
            </a:r>
            <a:r>
              <a:rPr spc="-10" dirty="0"/>
              <a:t>Configuration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624" y="1278903"/>
            <a:ext cx="7303000" cy="55252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1558" y="608044"/>
            <a:ext cx="6039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100" dirty="0"/>
              <a:t> </a:t>
            </a:r>
            <a:r>
              <a:rPr dirty="0"/>
              <a:t>Accesses</a:t>
            </a:r>
            <a:r>
              <a:rPr spc="-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93913"/>
            <a:ext cx="5144770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one-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blocks.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8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Direct</a:t>
            </a:r>
            <a:r>
              <a:rPr sz="2400" b="1" u="sng" spc="-9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Mapped</a:t>
            </a:r>
            <a:r>
              <a:rPr sz="2400" b="1" u="sng" spc="-4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Cache: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6013513"/>
            <a:ext cx="40722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Five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accesses.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4210050"/>
            <a:ext cx="3248025" cy="1143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8059" y="3876675"/>
            <a:ext cx="5752948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551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100" dirty="0"/>
              <a:t> </a:t>
            </a:r>
            <a:r>
              <a:rPr dirty="0"/>
              <a:t>Accesses</a:t>
            </a:r>
            <a:r>
              <a:rPr spc="-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35201"/>
            <a:ext cx="3774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Two</a:t>
            </a:r>
            <a:r>
              <a:rPr sz="2400" b="1" u="sng" spc="-9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Way</a:t>
            </a:r>
            <a:r>
              <a:rPr sz="2400" b="1" u="sng" spc="-3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Set</a:t>
            </a:r>
            <a:r>
              <a:rPr sz="2400" b="1" u="sng" spc="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Associative: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5469001"/>
            <a:ext cx="40246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five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3190875"/>
            <a:ext cx="3248025" cy="1143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879" y="2857500"/>
            <a:ext cx="5752758" cy="19240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764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100" dirty="0"/>
              <a:t> </a:t>
            </a:r>
            <a:r>
              <a:rPr dirty="0"/>
              <a:t>Accesses</a:t>
            </a:r>
            <a:r>
              <a:rPr spc="-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70113"/>
            <a:ext cx="3615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Fully</a:t>
            </a:r>
            <a:r>
              <a:rPr sz="2400" b="1" u="sng" spc="-15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Associative</a:t>
            </a:r>
            <a:r>
              <a:rPr sz="2400" b="1" u="sng" spc="-3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Cache: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5480113"/>
            <a:ext cx="5380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five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accesses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033" y="2633717"/>
            <a:ext cx="7980634" cy="21660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5358" y="638206"/>
            <a:ext cx="6039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100" dirty="0"/>
              <a:t> </a:t>
            </a:r>
            <a:r>
              <a:rPr dirty="0"/>
              <a:t>Accesses</a:t>
            </a:r>
            <a:r>
              <a:rPr spc="-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10" dirty="0"/>
              <a:t>Cache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7123"/>
            <a:ext cx="7988934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Here,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fully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79375" indent="-344805">
              <a:lnSpc>
                <a:spcPct val="8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eight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no </a:t>
            </a:r>
            <a:r>
              <a:rPr sz="2400" spc="-10" dirty="0">
                <a:latin typeface="Arial MT"/>
                <a:cs typeface="Arial MT"/>
              </a:rPr>
              <a:t>replacements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two-</a:t>
            </a:r>
            <a:r>
              <a:rPr sz="2400" dirty="0">
                <a:latin typeface="Arial MT"/>
                <a:cs typeface="Arial MT"/>
              </a:rPr>
              <a:t>way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set-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misses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fully </a:t>
            </a:r>
            <a:r>
              <a:rPr sz="2400" dirty="0">
                <a:latin typeface="Arial MT"/>
                <a:cs typeface="Arial MT"/>
              </a:rPr>
              <a:t>associative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73405" indent="-344805">
              <a:lnSpc>
                <a:spcPct val="8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16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would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misses.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8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ts val="23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associativity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independent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determining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performance.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902" y="371348"/>
            <a:ext cx="866648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Implementation</a:t>
            </a:r>
            <a:r>
              <a:rPr sz="2800" spc="-130" dirty="0"/>
              <a:t> </a:t>
            </a:r>
            <a:r>
              <a:rPr sz="2800" dirty="0"/>
              <a:t>of</a:t>
            </a:r>
            <a:r>
              <a:rPr sz="2800" spc="-50" dirty="0"/>
              <a:t> </a:t>
            </a:r>
            <a:r>
              <a:rPr sz="2800" spc="-10" dirty="0"/>
              <a:t>Four-</a:t>
            </a:r>
            <a:r>
              <a:rPr sz="2800" dirty="0"/>
              <a:t>way</a:t>
            </a:r>
            <a:r>
              <a:rPr sz="2800" spc="-114" dirty="0"/>
              <a:t> </a:t>
            </a:r>
            <a:r>
              <a:rPr sz="2800" dirty="0"/>
              <a:t>Set</a:t>
            </a:r>
            <a:r>
              <a:rPr sz="2800" spc="-75" dirty="0"/>
              <a:t> </a:t>
            </a:r>
            <a:r>
              <a:rPr sz="2800" dirty="0"/>
              <a:t>Associative</a:t>
            </a:r>
            <a:r>
              <a:rPr sz="2800" spc="15" dirty="0"/>
              <a:t> </a:t>
            </a:r>
            <a:r>
              <a:rPr sz="2800" spc="-10" dirty="0"/>
              <a:t>Cache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818" y="941210"/>
            <a:ext cx="7370799" cy="58721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764" rIns="0" bIns="0" rtlCol="0">
            <a:spAutoFit/>
          </a:bodyPr>
          <a:lstStyle/>
          <a:p>
            <a:pPr marL="2499360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70113"/>
            <a:ext cx="4844415" cy="347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blocks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words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32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Direct</a:t>
            </a:r>
            <a:r>
              <a:rPr sz="2400" b="1" u="sng" spc="-9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mapped</a:t>
            </a:r>
            <a:r>
              <a:rPr sz="2400" b="1" u="sng" spc="-6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cache:</a:t>
            </a: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4K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12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tags=32-12-</a:t>
            </a:r>
            <a:r>
              <a:rPr sz="2400" dirty="0">
                <a:latin typeface="Arial MT"/>
                <a:cs typeface="Arial MT"/>
              </a:rPr>
              <a:t>4=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16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926" rIns="0" bIns="0" rtlCol="0">
            <a:spAutoFit/>
          </a:bodyPr>
          <a:lstStyle/>
          <a:p>
            <a:pPr marL="2575560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00276"/>
            <a:ext cx="4128770" cy="391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Two</a:t>
            </a:r>
            <a:r>
              <a:rPr sz="2400" b="1" u="sng" spc="-8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way</a:t>
            </a:r>
            <a:r>
              <a:rPr sz="2400" b="1" u="sng" spc="-3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Set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Associative:</a:t>
            </a: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4K/2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2K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11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bits.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Tag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32-11-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=17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Four</a:t>
            </a:r>
            <a:r>
              <a:rPr sz="2400" b="1" u="sng" spc="-5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way</a:t>
            </a:r>
            <a:r>
              <a:rPr sz="2400" b="1" u="sng" spc="-6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Set</a:t>
            </a:r>
            <a:r>
              <a:rPr sz="2400" b="1" u="sng" spc="-3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Associative:</a:t>
            </a: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1K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Tag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32-10-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=18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864" rIns="0" bIns="0" rtlCol="0">
            <a:spAutoFit/>
          </a:bodyPr>
          <a:lstStyle/>
          <a:p>
            <a:pPr marL="2575560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Tag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46313"/>
            <a:ext cx="3366135" cy="216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Fully</a:t>
            </a:r>
            <a:r>
              <a:rPr sz="2400" b="1" u="sng" spc="-75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006600"/>
                </a:solidFill>
                <a:uFill>
                  <a:solidFill>
                    <a:srgbClr val="006600"/>
                  </a:solidFill>
                </a:uFill>
                <a:latin typeface="Arial"/>
                <a:cs typeface="Arial"/>
              </a:rPr>
              <a:t>Associative: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bit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Tag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32-0-</a:t>
            </a:r>
            <a:r>
              <a:rPr sz="2400" dirty="0">
                <a:latin typeface="Arial MT"/>
                <a:cs typeface="Arial MT"/>
              </a:rPr>
              <a:t>4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28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bits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507" rIns="0" bIns="0" rtlCol="0">
            <a:spAutoFit/>
          </a:bodyPr>
          <a:lstStyle/>
          <a:p>
            <a:pPr marL="1953895">
              <a:lnSpc>
                <a:spcPct val="100000"/>
              </a:lnSpc>
              <a:spcBef>
                <a:spcPts val="100"/>
              </a:spcBef>
            </a:pPr>
            <a:r>
              <a:rPr dirty="0"/>
              <a:t>Locating</a:t>
            </a:r>
            <a:r>
              <a:rPr spc="-9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Block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62" y="2445333"/>
            <a:ext cx="8941762" cy="16505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307" rIns="0" bIns="0" rtlCol="0">
            <a:spAutoFit/>
          </a:bodyPr>
          <a:lstStyle/>
          <a:p>
            <a:pPr marL="1957070">
              <a:lnSpc>
                <a:spcPct val="100000"/>
              </a:lnSpc>
              <a:spcBef>
                <a:spcPts val="100"/>
              </a:spcBef>
            </a:pPr>
            <a:r>
              <a:rPr dirty="0"/>
              <a:t>Block</a:t>
            </a:r>
            <a:r>
              <a:rPr spc="-9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31924"/>
            <a:ext cx="434276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675"/>
              </a:spcBef>
              <a:buClr>
                <a:srgbClr val="00007D"/>
              </a:buClr>
              <a:buSzPct val="75000"/>
              <a:buAutoNum type="arabicPeriod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Selection</a:t>
            </a: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spcBef>
                <a:spcPts val="575"/>
              </a:spcBef>
              <a:buClr>
                <a:srgbClr val="00007D"/>
              </a:buClr>
              <a:buSzPct val="75000"/>
              <a:buAutoNum type="arabicPeriod"/>
              <a:tabLst>
                <a:tab pos="621665" algn="l"/>
              </a:tabLst>
            </a:pPr>
            <a:r>
              <a:rPr sz="2400" dirty="0">
                <a:latin typeface="Arial MT"/>
                <a:cs typeface="Arial MT"/>
              </a:rPr>
              <a:t>Least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Recently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(LRU)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026" rIns="0" bIns="0" rtlCol="0">
            <a:spAutoFit/>
          </a:bodyPr>
          <a:lstStyle/>
          <a:p>
            <a:pPr marL="1091565">
              <a:lnSpc>
                <a:spcPct val="100000"/>
              </a:lnSpc>
              <a:spcBef>
                <a:spcPts val="100"/>
              </a:spcBef>
            </a:pPr>
            <a:r>
              <a:rPr dirty="0"/>
              <a:t>Three</a:t>
            </a:r>
            <a:r>
              <a:rPr spc="-85" dirty="0"/>
              <a:t> </a:t>
            </a:r>
            <a:r>
              <a:rPr dirty="0"/>
              <a:t>Sources</a:t>
            </a:r>
            <a:r>
              <a:rPr spc="-6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Misses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03324"/>
            <a:ext cx="7826375" cy="42316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621665" indent="-608965">
              <a:lnSpc>
                <a:spcPct val="100000"/>
              </a:lnSpc>
              <a:spcBef>
                <a:spcPts val="385"/>
              </a:spcBef>
              <a:buClr>
                <a:srgbClr val="00007D"/>
              </a:buClr>
              <a:buSzPct val="75000"/>
              <a:buAutoNum type="arabicPeriod"/>
              <a:tabLst>
                <a:tab pos="621665" algn="l"/>
              </a:tabLst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Compulsory</a:t>
            </a:r>
            <a:r>
              <a:rPr sz="2400" b="1" spc="-1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Misses:</a:t>
            </a:r>
            <a:endParaRPr sz="2400">
              <a:latin typeface="Arial"/>
              <a:cs typeface="Arial"/>
            </a:endParaRPr>
          </a:p>
          <a:p>
            <a:pPr marL="622300" marR="216535">
              <a:lnSpc>
                <a:spcPts val="2590"/>
              </a:lnSpc>
              <a:spcBef>
                <a:spcPts val="615"/>
              </a:spcBef>
            </a:pP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never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cache.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spcBef>
                <a:spcPts val="5"/>
              </a:spcBef>
              <a:buClr>
                <a:srgbClr val="00007D"/>
              </a:buClr>
              <a:buSzPct val="75000"/>
              <a:buAutoNum type="arabicPeriod" startAt="2"/>
              <a:tabLst>
                <a:tab pos="621665" algn="l"/>
              </a:tabLst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Capacity</a:t>
            </a:r>
            <a:r>
              <a:rPr sz="2400" b="1" spc="-9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Misses:</a:t>
            </a:r>
            <a:endParaRPr sz="2400">
              <a:latin typeface="Arial"/>
              <a:cs typeface="Arial"/>
            </a:endParaRPr>
          </a:p>
          <a:p>
            <a:pPr marL="622300" marR="5080">
              <a:lnSpc>
                <a:spcPts val="2590"/>
              </a:lnSpc>
              <a:spcBef>
                <a:spcPts val="615"/>
              </a:spcBef>
            </a:pPr>
            <a:r>
              <a:rPr sz="2400" dirty="0">
                <a:latin typeface="Arial MT"/>
                <a:cs typeface="Arial MT"/>
              </a:rPr>
              <a:t>Caused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cache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blocks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during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400">
              <a:latin typeface="Arial MT"/>
              <a:cs typeface="Arial MT"/>
            </a:endParaRPr>
          </a:p>
          <a:p>
            <a:pPr marL="621665" indent="-608965">
              <a:lnSpc>
                <a:spcPct val="100000"/>
              </a:lnSpc>
              <a:buClr>
                <a:srgbClr val="00007D"/>
              </a:buClr>
              <a:buSzPct val="75000"/>
              <a:buAutoNum type="arabicPeriod" startAt="3"/>
              <a:tabLst>
                <a:tab pos="621665" algn="l"/>
              </a:tabLst>
            </a:pP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Conflict</a:t>
            </a:r>
            <a:r>
              <a:rPr sz="2400" b="1" spc="-9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Misses/</a:t>
            </a:r>
            <a:r>
              <a:rPr sz="2400" b="1" spc="-5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Collision</a:t>
            </a:r>
            <a:r>
              <a:rPr sz="2400" b="1" spc="-8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6600"/>
                </a:solidFill>
                <a:latin typeface="Arial"/>
                <a:cs typeface="Arial"/>
              </a:rPr>
              <a:t>Misses:</a:t>
            </a:r>
            <a:endParaRPr sz="2400">
              <a:latin typeface="Arial"/>
              <a:cs typeface="Arial"/>
            </a:endParaRPr>
          </a:p>
          <a:p>
            <a:pPr marL="622300" marR="145415">
              <a:lnSpc>
                <a:spcPts val="2590"/>
              </a:lnSpc>
              <a:spcBef>
                <a:spcPts val="615"/>
              </a:spcBef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compete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location </a:t>
            </a:r>
            <a:r>
              <a:rPr sz="2400" dirty="0">
                <a:latin typeface="Arial MT"/>
                <a:cs typeface="Arial MT"/>
              </a:rPr>
              <a:t>(direct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mapping)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(set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associative).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507" rIns="0" bIns="0" rtlCol="0">
            <a:spAutoFit/>
          </a:bodyPr>
          <a:lstStyle/>
          <a:p>
            <a:pPr marL="27374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Solutions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68" y="2179154"/>
            <a:ext cx="8678750" cy="2015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1139</Words>
  <Application>Microsoft Office PowerPoint</Application>
  <PresentationFormat>On-screen Show (4:3)</PresentationFormat>
  <Paragraphs>162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Arial MT</vt:lpstr>
      <vt:lpstr>Wingdings</vt:lpstr>
      <vt:lpstr>Office Theme</vt:lpstr>
      <vt:lpstr>Lecture – 20</vt:lpstr>
      <vt:lpstr>Handling Cache Misses</vt:lpstr>
      <vt:lpstr>Handling Writes</vt:lpstr>
      <vt:lpstr>Handling Writes</vt:lpstr>
      <vt:lpstr>Handling Writes</vt:lpstr>
      <vt:lpstr>Designing Memory System to Support Cache</vt:lpstr>
      <vt:lpstr>One-Word-Wide Memory Organization</vt:lpstr>
      <vt:lpstr>Wide Memory Organization</vt:lpstr>
      <vt:lpstr>Interleaved Memory Organization</vt:lpstr>
      <vt:lpstr>Reducing Cache Misses</vt:lpstr>
      <vt:lpstr>Fully Associative Cache</vt:lpstr>
      <vt:lpstr>Set Associative Cache</vt:lpstr>
      <vt:lpstr>Set Associative Cache</vt:lpstr>
      <vt:lpstr>Memory Block Mapping in the Cache</vt:lpstr>
      <vt:lpstr>Cache Configuration</vt:lpstr>
      <vt:lpstr>Memory Accesses in Cache</vt:lpstr>
      <vt:lpstr>Memory Accesses in Cache</vt:lpstr>
      <vt:lpstr>Memory Accesses in Cache</vt:lpstr>
      <vt:lpstr>Memory Accesses in Cache</vt:lpstr>
      <vt:lpstr>Implementation of Four-way Set Associative Cache</vt:lpstr>
      <vt:lpstr>Size of Tag</vt:lpstr>
      <vt:lpstr>Size of Tag</vt:lpstr>
      <vt:lpstr>Size of Tag</vt:lpstr>
      <vt:lpstr>Locating a Block</vt:lpstr>
      <vt:lpstr>Block Placement</vt:lpstr>
      <vt:lpstr>Three Sources of Misses</vt:lpstr>
      <vt:lpstr>Solutions</vt:lpstr>
    </vt:vector>
  </TitlesOfParts>
  <Company>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fsfsdfdsf</dc:title>
  <dc:creator>Eva</dc:creator>
  <cp:lastModifiedBy>Jargis Ahmed</cp:lastModifiedBy>
  <cp:revision>1</cp:revision>
  <dcterms:created xsi:type="dcterms:W3CDTF">2025-07-13T16:37:20Z</dcterms:created>
  <dcterms:modified xsi:type="dcterms:W3CDTF">2025-07-13T19:31:43Z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2014-05-29T00:00:00Z</vt:filetime>
  </property>
  <property fmtid="{D5CDD505-2E9C-101B-9397-08002B2CF9AE}" pid="3" name="Creator">
    <vt:lpwstr>Acrobat PDFMaker 9.0 for PowerPoint</vt:lpwstr>
  </property>
  <property fmtid="{D5CDD505-2E9C-101B-9397-08002B2CF9AE}" pid="4" name="LastSaved">
    <vt:filetime>2025-07-13T00:00:00Z</vt:filetime>
  </property>
  <property fmtid="{D5CDD505-2E9C-101B-9397-08002B2CF9AE}" pid="5" name="Producer">
    <vt:lpwstr>Adobe PDF Library 9.0</vt:lpwstr>
  </property>
</Properties>
</file>